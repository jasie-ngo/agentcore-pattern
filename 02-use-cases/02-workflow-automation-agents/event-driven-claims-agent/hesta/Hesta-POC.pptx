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553" r:id="rId2"/>
    <p:sldId id="540" r:id="rId3"/>
    <p:sldId id="595"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D93D2-0BE4-1144-A699-DDDE9E75626A}" type="datetimeFigureOut">
              <a:rPr lang="en-US" smtClean="0"/>
              <a:t>8/31/26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2833A-C7BC-B641-A28A-BC80A89A25D1}" type="slidenum">
              <a:rPr lang="en-US" smtClean="0"/>
              <a:t>‹#›</a:t>
            </a:fld>
            <a:endParaRPr lang="en-US"/>
          </a:p>
        </p:txBody>
      </p:sp>
    </p:spTree>
    <p:extLst>
      <p:ext uri="{BB962C8B-B14F-4D97-AF65-F5344CB8AC3E}">
        <p14:creationId xmlns:p14="http://schemas.microsoft.com/office/powerpoint/2010/main" val="296692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a:highlight>
                  <a:srgbClr val="FFFF00"/>
                </a:highlight>
              </a:rPr>
              <a:t>This is a Logical </a:t>
            </a:r>
            <a:r>
              <a:rPr lang="en-AU" sz="1200" err="1">
                <a:highlight>
                  <a:srgbClr val="FFFF00"/>
                </a:highlight>
              </a:rPr>
              <a:t>busiess</a:t>
            </a:r>
            <a:r>
              <a:rPr lang="en-AU" sz="1200">
                <a:highlight>
                  <a:srgbClr val="FFFF00"/>
                </a:highlight>
              </a:rPr>
              <a:t> flow (not orchestration sequence) , understand, Decide execute and learn, add A-13 as  overall capability, Connect the agents to exec and op KPIs</a:t>
            </a:r>
          </a:p>
          <a:p>
            <a:endParaRPr lang="en-AU"/>
          </a:p>
        </p:txBody>
      </p:sp>
      <p:sp>
        <p:nvSpPr>
          <p:cNvPr id="4" name="Slide Number Placeholder 3"/>
          <p:cNvSpPr>
            <a:spLocks noGrp="1"/>
          </p:cNvSpPr>
          <p:nvPr>
            <p:ph type="sldNum" sz="quarter" idx="5"/>
          </p:nvPr>
        </p:nvSpPr>
        <p:spPr/>
        <p:txBody>
          <a:bodyPr/>
          <a:lstStyle/>
          <a:p>
            <a:fld id="{FE912643-4207-40AB-9739-9AAA261FD000}" type="slidenum">
              <a:rPr lang="en-AU" smtClean="0"/>
              <a:t>2</a:t>
            </a:fld>
            <a:endParaRPr lang="en-AU"/>
          </a:p>
        </p:txBody>
      </p:sp>
    </p:spTree>
    <p:extLst>
      <p:ext uri="{BB962C8B-B14F-4D97-AF65-F5344CB8AC3E}">
        <p14:creationId xmlns:p14="http://schemas.microsoft.com/office/powerpoint/2010/main" val="2922607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0A32-5111-EAD6-2D32-DBAA7FEF8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03D68-8731-6109-3622-E493FEB5E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1DD22-F67D-54B2-10E6-A559643472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a:highlight>
                  <a:srgbClr val="FFFF00"/>
                </a:highlight>
              </a:rPr>
              <a:t>This is a Logical </a:t>
            </a:r>
            <a:r>
              <a:rPr lang="en-AU" sz="1200" err="1">
                <a:highlight>
                  <a:srgbClr val="FFFF00"/>
                </a:highlight>
              </a:rPr>
              <a:t>busiess</a:t>
            </a:r>
            <a:r>
              <a:rPr lang="en-AU" sz="1200">
                <a:highlight>
                  <a:srgbClr val="FFFF00"/>
                </a:highlight>
              </a:rPr>
              <a:t> flow (not orchestration sequence) , understand, Decide execute and learn, add A-13 as  overall capability, Connect the agents to exec and op KPIs</a:t>
            </a:r>
          </a:p>
          <a:p>
            <a:endParaRPr lang="en-AU"/>
          </a:p>
        </p:txBody>
      </p:sp>
      <p:sp>
        <p:nvSpPr>
          <p:cNvPr id="4" name="Slide Number Placeholder 3">
            <a:extLst>
              <a:ext uri="{FF2B5EF4-FFF2-40B4-BE49-F238E27FC236}">
                <a16:creationId xmlns:a16="http://schemas.microsoft.com/office/drawing/2014/main" id="{8429DC80-2010-AB84-AD0C-7BB069BF4CEA}"/>
              </a:ext>
            </a:extLst>
          </p:cNvPr>
          <p:cNvSpPr>
            <a:spLocks noGrp="1"/>
          </p:cNvSpPr>
          <p:nvPr>
            <p:ph type="sldNum" sz="quarter" idx="5"/>
          </p:nvPr>
        </p:nvSpPr>
        <p:spPr/>
        <p:txBody>
          <a:bodyPr/>
          <a:lstStyle/>
          <a:p>
            <a:fld id="{FE912643-4207-40AB-9739-9AAA261FD000}" type="slidenum">
              <a:rPr lang="en-AU" smtClean="0"/>
              <a:t>3</a:t>
            </a:fld>
            <a:endParaRPr lang="en-AU"/>
          </a:p>
        </p:txBody>
      </p:sp>
    </p:spTree>
    <p:extLst>
      <p:ext uri="{BB962C8B-B14F-4D97-AF65-F5344CB8AC3E}">
        <p14:creationId xmlns:p14="http://schemas.microsoft.com/office/powerpoint/2010/main" val="988857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74AA-8B02-1C97-7695-DE405CBC438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0CF93F4-BAB5-FDB4-5FCA-FFFCE25E14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95662BF-FF2A-51CB-38F7-E4CC038B9B96}"/>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5" name="Footer Placeholder 4">
            <a:extLst>
              <a:ext uri="{FF2B5EF4-FFF2-40B4-BE49-F238E27FC236}">
                <a16:creationId xmlns:a16="http://schemas.microsoft.com/office/drawing/2014/main" id="{F27544CC-083C-97D0-95DB-260A203C59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53BD18-7A45-1E9C-69B9-A0EFB44BD535}"/>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372155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EC2C-C7E4-1F3E-F983-F9E84DB49BA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FFA9A9A-C741-37BD-B4FF-0235FB1EFCA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8B76AAE-906C-13DC-296E-EE257AB441DF}"/>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5" name="Footer Placeholder 4">
            <a:extLst>
              <a:ext uri="{FF2B5EF4-FFF2-40B4-BE49-F238E27FC236}">
                <a16:creationId xmlns:a16="http://schemas.microsoft.com/office/drawing/2014/main" id="{EE017906-9361-5264-80BE-A5C365EAC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9D232-FA31-3C92-5268-9107E0DD6DE0}"/>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2440964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5A013-281E-E8B7-E37C-179E876AAA4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839DC12-BCE8-30B2-C326-BC15D422F7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E8A1D83-505E-0A73-E99F-1DD9128D9A77}"/>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5" name="Footer Placeholder 4">
            <a:extLst>
              <a:ext uri="{FF2B5EF4-FFF2-40B4-BE49-F238E27FC236}">
                <a16:creationId xmlns:a16="http://schemas.microsoft.com/office/drawing/2014/main" id="{2048822D-8675-459F-DA4C-E8ED8D0ABC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87379B-901B-EDCA-F21B-B66008D6E0BB}"/>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998689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1CC2-086D-283A-DE86-D785ACB0E98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64EDB8B-A9A4-6F1E-2A05-DCF8A3F070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242AAB0-E9F5-463A-3FBA-AE281C69661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3F92609-9355-2B45-0AC9-5A8DD781E2CF}"/>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6" name="Footer Placeholder 5">
            <a:extLst>
              <a:ext uri="{FF2B5EF4-FFF2-40B4-BE49-F238E27FC236}">
                <a16:creationId xmlns:a16="http://schemas.microsoft.com/office/drawing/2014/main" id="{5563655F-6E89-B492-E51B-F31367C1B0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A885A2-FA3D-95AD-3D4B-A767AABE0F7B}"/>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1913417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EB85D-5D32-730B-496B-501326880B2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FAC35AE-01C1-57BE-A9F7-368AF96798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4AE5749-E113-4854-98AE-EAEB443632F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8E4606C-0F5F-27D3-7068-D021533601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D73B566-47D8-0BB3-D7F2-1F2A4492826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5736128-F39F-D7A1-0A90-42C67E32F5C9}"/>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8" name="Footer Placeholder 7">
            <a:extLst>
              <a:ext uri="{FF2B5EF4-FFF2-40B4-BE49-F238E27FC236}">
                <a16:creationId xmlns:a16="http://schemas.microsoft.com/office/drawing/2014/main" id="{F9DAB902-6CFA-9F22-D891-C3FEB76C49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121BB5-2BAE-3208-5F82-058ADA59D735}"/>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2221274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B5809-2E7B-C884-AE1C-6B7A2635443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BBB21FF-E547-D213-022D-217DEEEBAEC3}"/>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4" name="Footer Placeholder 3">
            <a:extLst>
              <a:ext uri="{FF2B5EF4-FFF2-40B4-BE49-F238E27FC236}">
                <a16:creationId xmlns:a16="http://schemas.microsoft.com/office/drawing/2014/main" id="{300515C2-6627-8F32-598C-BF80A9CF2E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27DB23-9DF0-C252-4C14-2938233B6CD0}"/>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1239642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C88851-3229-721D-A2BF-389E2A9A4169}"/>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3" name="Footer Placeholder 2">
            <a:extLst>
              <a:ext uri="{FF2B5EF4-FFF2-40B4-BE49-F238E27FC236}">
                <a16:creationId xmlns:a16="http://schemas.microsoft.com/office/drawing/2014/main" id="{C711EFD5-47B7-081C-DA51-E0E6312125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A847A7-D705-566D-041E-6398B84AFE4D}"/>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2349105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8D77-D56E-EE60-ED55-84228FCEDAC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DBF4B08-6F4A-4779-9EA0-47F2B5357F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D54B9B1-68FE-FD07-5C57-130D190005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AEA4490-1551-863B-C291-A07901077463}"/>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6" name="Footer Placeholder 5">
            <a:extLst>
              <a:ext uri="{FF2B5EF4-FFF2-40B4-BE49-F238E27FC236}">
                <a16:creationId xmlns:a16="http://schemas.microsoft.com/office/drawing/2014/main" id="{A91584BF-26F5-4FC0-873A-1CA6DBC2A7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E61A58-AC27-5E6A-A484-A5EE51A78B12}"/>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270136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7B4E7-A14F-C795-7FAD-7601337DB45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D23678E-584D-E233-B7E5-97BFCFF408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BE6995-B425-7D6E-EB94-14268160B5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5D99670-6491-74EB-24DA-89575E9C55D7}"/>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6" name="Footer Placeholder 5">
            <a:extLst>
              <a:ext uri="{FF2B5EF4-FFF2-40B4-BE49-F238E27FC236}">
                <a16:creationId xmlns:a16="http://schemas.microsoft.com/office/drawing/2014/main" id="{89C6FA3D-E0E1-F6D8-B6AF-DC5D205651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BAC002-6993-5DDE-CFF6-A8832FE0F020}"/>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2439779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5D953-437A-38D9-362D-B4FD7B9A72A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F7253BB-3C8A-7420-81CF-8790E8E4D2F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14EAC1B-3F3C-B30B-4595-5C6D1770E0EA}"/>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5" name="Footer Placeholder 4">
            <a:extLst>
              <a:ext uri="{FF2B5EF4-FFF2-40B4-BE49-F238E27FC236}">
                <a16:creationId xmlns:a16="http://schemas.microsoft.com/office/drawing/2014/main" id="{EEAA662F-C069-4AF7-A2DA-6584CAAAD2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B5514-9EAB-6E84-D679-9A806D499F88}"/>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1216165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A2E57A-89C3-3B9E-2AF6-855D858B416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3DFD1AF-BEC5-1559-8FDC-E647E158B93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8B7C50-9BBC-C1A6-EE01-FA5D3A2B9075}"/>
              </a:ext>
            </a:extLst>
          </p:cNvPr>
          <p:cNvSpPr>
            <a:spLocks noGrp="1"/>
          </p:cNvSpPr>
          <p:nvPr>
            <p:ph type="dt" sz="half" idx="10"/>
          </p:nvPr>
        </p:nvSpPr>
        <p:spPr/>
        <p:txBody>
          <a:bodyPr/>
          <a:lstStyle/>
          <a:p>
            <a:fld id="{7FA7B60A-00E7-D74F-A0B5-0C672102E630}" type="datetimeFigureOut">
              <a:rPr lang="en-US" smtClean="0"/>
              <a:t>8/31/26</a:t>
            </a:fld>
            <a:endParaRPr lang="en-US"/>
          </a:p>
        </p:txBody>
      </p:sp>
      <p:sp>
        <p:nvSpPr>
          <p:cNvPr id="5" name="Footer Placeholder 4">
            <a:extLst>
              <a:ext uri="{FF2B5EF4-FFF2-40B4-BE49-F238E27FC236}">
                <a16:creationId xmlns:a16="http://schemas.microsoft.com/office/drawing/2014/main" id="{70A345CA-3941-CCDD-9DFF-1779404ED2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A01402-36CC-74D8-7EA9-A58B28836206}"/>
              </a:ext>
            </a:extLst>
          </p:cNvPr>
          <p:cNvSpPr>
            <a:spLocks noGrp="1"/>
          </p:cNvSpPr>
          <p:nvPr>
            <p:ph type="sldNum" sz="quarter" idx="12"/>
          </p:nvPr>
        </p:nvSpPr>
        <p:spPr/>
        <p:txBody>
          <a:bodyPr/>
          <a:lstStyle/>
          <a:p>
            <a:fld id="{9FBE2CE5-C8C3-AF4D-BDD0-CD9DB1515D89}" type="slidenum">
              <a:rPr lang="en-US" smtClean="0"/>
              <a:t>‹#›</a:t>
            </a:fld>
            <a:endParaRPr lang="en-US"/>
          </a:p>
        </p:txBody>
      </p:sp>
    </p:spTree>
    <p:extLst>
      <p:ext uri="{BB962C8B-B14F-4D97-AF65-F5344CB8AC3E}">
        <p14:creationId xmlns:p14="http://schemas.microsoft.com/office/powerpoint/2010/main" val="3922366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41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B2655A-A535-3E7B-4174-FBEB0E18E7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E483D54-FA28-0035-4C89-38FA4D99D4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97BF20E-E8B6-7BE5-B1C0-61F0F4B5D5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A7B60A-00E7-D74F-A0B5-0C672102E630}" type="datetimeFigureOut">
              <a:rPr lang="en-US" smtClean="0"/>
              <a:t>8/31/26</a:t>
            </a:fld>
            <a:endParaRPr lang="en-US"/>
          </a:p>
        </p:txBody>
      </p:sp>
      <p:sp>
        <p:nvSpPr>
          <p:cNvPr id="5" name="Footer Placeholder 4">
            <a:extLst>
              <a:ext uri="{FF2B5EF4-FFF2-40B4-BE49-F238E27FC236}">
                <a16:creationId xmlns:a16="http://schemas.microsoft.com/office/drawing/2014/main" id="{12DBE536-8E3F-D37C-5B2A-D41BCD0C03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07C885-68D2-B81E-3C1F-DE88EB2C07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BE2CE5-C8C3-AF4D-BDD0-CD9DB1515D89}" type="slidenum">
              <a:rPr lang="en-US" smtClean="0"/>
              <a:t>‹#›</a:t>
            </a:fld>
            <a:endParaRPr lang="en-US"/>
          </a:p>
        </p:txBody>
      </p:sp>
    </p:spTree>
    <p:extLst>
      <p:ext uri="{BB962C8B-B14F-4D97-AF65-F5344CB8AC3E}">
        <p14:creationId xmlns:p14="http://schemas.microsoft.com/office/powerpoint/2010/main" val="4270828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63402-D7FB-172C-42EB-82B99E4D4F94}"/>
            </a:ext>
          </a:extLst>
        </p:cNvPr>
        <p:cNvGrpSpPr/>
        <p:nvPr/>
      </p:nvGrpSpPr>
      <p:grpSpPr>
        <a:xfrm>
          <a:off x="0" y="0"/>
          <a:ext cx="0" cy="0"/>
          <a:chOff x="0" y="0"/>
          <a:chExt cx="0" cy="0"/>
        </a:xfrm>
      </p:grpSpPr>
      <p:sp>
        <p:nvSpPr>
          <p:cNvPr id="201" name="t">
            <a:extLst>
              <a:ext uri="{FF2B5EF4-FFF2-40B4-BE49-F238E27FC236}">
                <a16:creationId xmlns:a16="http://schemas.microsoft.com/office/drawing/2014/main" id="{FEE1EC3E-1677-C15D-0A61-624865DA5A8E}"/>
              </a:ext>
            </a:extLst>
          </p:cNvPr>
          <p:cNvSpPr txBox="1"/>
          <p:nvPr/>
        </p:nvSpPr>
        <p:spPr>
          <a:xfrm>
            <a:off x="10642600" y="228600"/>
            <a:ext cx="1219200" cy="304800"/>
          </a:xfrm>
          <a:prstGeom prst="rect">
            <a:avLst/>
          </a:prstGeom>
          <a:noFill/>
        </p:spPr>
        <p:txBody>
          <a:bodyPr wrap="square" lIns="0" tIns="0" rIns="0" bIns="0">
            <a:normAutofit/>
          </a:bodyPr>
          <a:lstStyle/>
          <a:p>
            <a:pPr algn="r">
              <a:buNone/>
            </a:pPr>
            <a:r>
              <a:rPr lang="en-US" sz="1000" b="1" spc="200">
                <a:solidFill>
                  <a:srgbClr val="F0AD4E"/>
                </a:solidFill>
                <a:latin typeface="Arial"/>
                <a:cs typeface="Arial"/>
              </a:rPr>
              <a:t>DRAFT</a:t>
            </a:r>
          </a:p>
        </p:txBody>
      </p:sp>
      <p:sp>
        <p:nvSpPr>
          <p:cNvPr id="202" name="t">
            <a:extLst>
              <a:ext uri="{FF2B5EF4-FFF2-40B4-BE49-F238E27FC236}">
                <a16:creationId xmlns:a16="http://schemas.microsoft.com/office/drawing/2014/main" id="{71F0198A-AFFA-CEC1-C279-680683B7C55F}"/>
              </a:ext>
            </a:extLst>
          </p:cNvPr>
          <p:cNvSpPr txBox="1"/>
          <p:nvPr/>
        </p:nvSpPr>
        <p:spPr>
          <a:xfrm>
            <a:off x="698500" y="558800"/>
            <a:ext cx="10922000" cy="254000"/>
          </a:xfrm>
          <a:prstGeom prst="rect">
            <a:avLst/>
          </a:prstGeom>
          <a:noFill/>
        </p:spPr>
        <p:txBody>
          <a:bodyPr wrap="square" lIns="0" tIns="0" rIns="0" bIns="0">
            <a:normAutofit/>
          </a:bodyPr>
          <a:lstStyle/>
          <a:p>
            <a:pPr algn="l">
              <a:buNone/>
            </a:pPr>
            <a:r>
              <a:rPr lang="en-US" sz="1300" b="1" spc="220">
                <a:solidFill>
                  <a:srgbClr val="F0AD4E"/>
                </a:solidFill>
                <a:latin typeface="Arial"/>
                <a:cs typeface="Arial"/>
              </a:rPr>
              <a:t>ENTERPRISE AI CAPABILITY</a:t>
            </a:r>
          </a:p>
        </p:txBody>
      </p:sp>
      <p:sp>
        <p:nvSpPr>
          <p:cNvPr id="203" name="t">
            <a:extLst>
              <a:ext uri="{FF2B5EF4-FFF2-40B4-BE49-F238E27FC236}">
                <a16:creationId xmlns:a16="http://schemas.microsoft.com/office/drawing/2014/main" id="{41A4DFAB-17B5-FAE2-9B79-39B92C75D216}"/>
              </a:ext>
            </a:extLst>
          </p:cNvPr>
          <p:cNvSpPr txBox="1"/>
          <p:nvPr/>
        </p:nvSpPr>
        <p:spPr>
          <a:xfrm>
            <a:off x="698500" y="838200"/>
            <a:ext cx="11201400" cy="457200"/>
          </a:xfrm>
          <a:prstGeom prst="rect">
            <a:avLst/>
          </a:prstGeom>
          <a:noFill/>
        </p:spPr>
        <p:txBody>
          <a:bodyPr wrap="square" lIns="0" tIns="0" rIns="0" bIns="0">
            <a:normAutofit/>
          </a:bodyPr>
          <a:lstStyle/>
          <a:p>
            <a:pPr algn="l">
              <a:buNone/>
            </a:pPr>
            <a:r>
              <a:rPr lang="en-US" sz="2000" b="1" err="1">
                <a:solidFill>
                  <a:srgbClr val="1B2A41"/>
                </a:solidFill>
                <a:latin typeface="Arial"/>
                <a:cs typeface="Arial"/>
              </a:rPr>
              <a:t>Prioritised</a:t>
            </a:r>
            <a:r>
              <a:rPr lang="en-US" sz="2000" b="1">
                <a:solidFill>
                  <a:srgbClr val="1B2A41"/>
                </a:solidFill>
                <a:latin typeface="Arial"/>
                <a:cs typeface="Arial"/>
              </a:rPr>
              <a:t> AI Agentic Capability</a:t>
            </a:r>
          </a:p>
        </p:txBody>
      </p:sp>
      <p:sp>
        <p:nvSpPr>
          <p:cNvPr id="204" name="t">
            <a:extLst>
              <a:ext uri="{FF2B5EF4-FFF2-40B4-BE49-F238E27FC236}">
                <a16:creationId xmlns:a16="http://schemas.microsoft.com/office/drawing/2014/main" id="{BC1F03B3-2A41-DC63-8923-19A22953F512}"/>
              </a:ext>
            </a:extLst>
          </p:cNvPr>
          <p:cNvSpPr txBox="1"/>
          <p:nvPr/>
        </p:nvSpPr>
        <p:spPr>
          <a:xfrm>
            <a:off x="698500" y="1206500"/>
            <a:ext cx="11176000" cy="381000"/>
          </a:xfrm>
          <a:prstGeom prst="rect">
            <a:avLst/>
          </a:prstGeom>
          <a:noFill/>
        </p:spPr>
        <p:txBody>
          <a:bodyPr wrap="square" lIns="0" tIns="0" rIns="0" bIns="0">
            <a:normAutofit/>
          </a:bodyPr>
          <a:lstStyle/>
          <a:p>
            <a:pPr algn="l">
              <a:buNone/>
            </a:pPr>
            <a:r>
              <a:rPr lang="en-US" sz="1150" b="0" i="1">
                <a:solidFill>
                  <a:srgbClr val="5C6B7A"/>
                </a:solidFill>
                <a:latin typeface="Arial"/>
                <a:cs typeface="Arial"/>
              </a:rPr>
              <a:t>The following capabilities are recommended as the initial AI investment because they establish reusable enterprise foundations before introducing more complex execution capabilities.</a:t>
            </a:r>
          </a:p>
        </p:txBody>
      </p:sp>
      <p:sp>
        <p:nvSpPr>
          <p:cNvPr id="205" name="r">
            <a:extLst>
              <a:ext uri="{FF2B5EF4-FFF2-40B4-BE49-F238E27FC236}">
                <a16:creationId xmlns:a16="http://schemas.microsoft.com/office/drawing/2014/main" id="{F743C026-9F79-076B-E20D-E87A29D0C747}"/>
              </a:ext>
            </a:extLst>
          </p:cNvPr>
          <p:cNvSpPr/>
          <p:nvPr/>
        </p:nvSpPr>
        <p:spPr>
          <a:xfrm>
            <a:off x="698500" y="1803400"/>
            <a:ext cx="10795000" cy="304800"/>
          </a:xfrm>
          <a:prstGeom prst="rect">
            <a:avLst/>
          </a:prstGeom>
          <a:solidFill>
            <a:srgbClr val="1B2A41"/>
          </a:solidFill>
          <a:ln>
            <a:noFill/>
          </a:ln>
        </p:spPr>
        <p:txBody>
          <a:bodyPr/>
          <a:lstStyle/>
          <a:p>
            <a:endParaRPr/>
          </a:p>
        </p:txBody>
      </p:sp>
      <p:sp>
        <p:nvSpPr>
          <p:cNvPr id="206" name="t">
            <a:extLst>
              <a:ext uri="{FF2B5EF4-FFF2-40B4-BE49-F238E27FC236}">
                <a16:creationId xmlns:a16="http://schemas.microsoft.com/office/drawing/2014/main" id="{36CBF06F-A566-86F5-37BC-3534CD9C88DC}"/>
              </a:ext>
            </a:extLst>
          </p:cNvPr>
          <p:cNvSpPr txBox="1"/>
          <p:nvPr/>
        </p:nvSpPr>
        <p:spPr>
          <a:xfrm>
            <a:off x="698500" y="1803400"/>
            <a:ext cx="431800" cy="304800"/>
          </a:xfrm>
          <a:prstGeom prst="rect">
            <a:avLst/>
          </a:prstGeom>
          <a:noFill/>
        </p:spPr>
        <p:txBody>
          <a:bodyPr wrap="square" lIns="0" tIns="0" rIns="0" bIns="0" anchor="ctr">
            <a:normAutofit/>
          </a:bodyPr>
          <a:lstStyle/>
          <a:p>
            <a:pPr algn="ctr">
              <a:buNone/>
            </a:pPr>
            <a:r>
              <a:rPr lang="en-US" sz="1000" b="1" spc="20">
                <a:solidFill>
                  <a:srgbClr val="FFFFFF"/>
                </a:solidFill>
                <a:latin typeface="Arial"/>
                <a:cs typeface="Arial"/>
              </a:rPr>
              <a:t>#</a:t>
            </a:r>
          </a:p>
        </p:txBody>
      </p:sp>
      <p:sp>
        <p:nvSpPr>
          <p:cNvPr id="207" name="t">
            <a:extLst>
              <a:ext uri="{FF2B5EF4-FFF2-40B4-BE49-F238E27FC236}">
                <a16:creationId xmlns:a16="http://schemas.microsoft.com/office/drawing/2014/main" id="{538E913A-83AB-9167-EE9B-9ED73BE2DCF2}"/>
              </a:ext>
            </a:extLst>
          </p:cNvPr>
          <p:cNvSpPr txBox="1"/>
          <p:nvPr/>
        </p:nvSpPr>
        <p:spPr>
          <a:xfrm>
            <a:off x="1206500" y="1803400"/>
            <a:ext cx="1600200" cy="304800"/>
          </a:xfrm>
          <a:prstGeom prst="rect">
            <a:avLst/>
          </a:prstGeom>
          <a:noFill/>
        </p:spPr>
        <p:txBody>
          <a:bodyPr wrap="square" lIns="0" tIns="0" rIns="0" bIns="0" anchor="ctr">
            <a:normAutofit/>
          </a:bodyPr>
          <a:lstStyle/>
          <a:p>
            <a:pPr algn="l">
              <a:buNone/>
            </a:pPr>
            <a:r>
              <a:rPr lang="en-US" sz="1000" b="1" spc="20">
                <a:solidFill>
                  <a:srgbClr val="FFFFFF"/>
                </a:solidFill>
                <a:latin typeface="Arial"/>
                <a:cs typeface="Arial"/>
              </a:rPr>
              <a:t>AI Agentic Capability </a:t>
            </a:r>
          </a:p>
        </p:txBody>
      </p:sp>
      <p:sp>
        <p:nvSpPr>
          <p:cNvPr id="208" name="t">
            <a:extLst>
              <a:ext uri="{FF2B5EF4-FFF2-40B4-BE49-F238E27FC236}">
                <a16:creationId xmlns:a16="http://schemas.microsoft.com/office/drawing/2014/main" id="{975AA2D9-BC92-24B7-2BAF-B2472B43FBA4}"/>
              </a:ext>
            </a:extLst>
          </p:cNvPr>
          <p:cNvSpPr txBox="1"/>
          <p:nvPr/>
        </p:nvSpPr>
        <p:spPr>
          <a:xfrm>
            <a:off x="2602523" y="1803400"/>
            <a:ext cx="4064977" cy="304800"/>
          </a:xfrm>
          <a:prstGeom prst="rect">
            <a:avLst/>
          </a:prstGeom>
          <a:noFill/>
        </p:spPr>
        <p:txBody>
          <a:bodyPr wrap="square" lIns="0" tIns="0" rIns="0" bIns="0" anchor="ctr">
            <a:normAutofit/>
          </a:bodyPr>
          <a:lstStyle/>
          <a:p>
            <a:pPr algn="l">
              <a:buNone/>
            </a:pPr>
            <a:r>
              <a:rPr lang="en-US" sz="1000" b="1" spc="20">
                <a:solidFill>
                  <a:srgbClr val="FFFFFF"/>
                </a:solidFill>
                <a:latin typeface="Arial"/>
                <a:cs typeface="Arial"/>
              </a:rPr>
              <a:t>Description</a:t>
            </a:r>
          </a:p>
        </p:txBody>
      </p:sp>
      <p:sp>
        <p:nvSpPr>
          <p:cNvPr id="501" name="r">
            <a:extLst>
              <a:ext uri="{FF2B5EF4-FFF2-40B4-BE49-F238E27FC236}">
                <a16:creationId xmlns:a16="http://schemas.microsoft.com/office/drawing/2014/main" id="{F433C661-A74F-E8E9-8E6E-CB91A779E533}"/>
              </a:ext>
            </a:extLst>
          </p:cNvPr>
          <p:cNvSpPr/>
          <p:nvPr/>
        </p:nvSpPr>
        <p:spPr>
          <a:xfrm>
            <a:off x="806450" y="2286000"/>
            <a:ext cx="215900" cy="215900"/>
          </a:xfrm>
          <a:prstGeom prst="roundRect">
            <a:avLst>
              <a:gd name="adj" fmla="val 50"/>
            </a:avLst>
          </a:prstGeom>
          <a:solidFill>
            <a:srgbClr val="7226E0"/>
          </a:solidFill>
          <a:ln>
            <a:noFill/>
          </a:ln>
        </p:spPr>
        <p:txBody>
          <a:bodyPr/>
          <a:lstStyle/>
          <a:p>
            <a:endParaRPr/>
          </a:p>
        </p:txBody>
      </p:sp>
      <p:sp>
        <p:nvSpPr>
          <p:cNvPr id="502" name="t">
            <a:extLst>
              <a:ext uri="{FF2B5EF4-FFF2-40B4-BE49-F238E27FC236}">
                <a16:creationId xmlns:a16="http://schemas.microsoft.com/office/drawing/2014/main" id="{248E3BD2-9B2C-5EEA-165B-D514B8884ADC}"/>
              </a:ext>
            </a:extLst>
          </p:cNvPr>
          <p:cNvSpPr txBox="1"/>
          <p:nvPr/>
        </p:nvSpPr>
        <p:spPr>
          <a:xfrm>
            <a:off x="806450" y="2286000"/>
            <a:ext cx="215900" cy="215900"/>
          </a:xfrm>
          <a:prstGeom prst="rect">
            <a:avLst/>
          </a:prstGeom>
          <a:noFill/>
        </p:spPr>
        <p:txBody>
          <a:bodyPr wrap="square" lIns="0" tIns="0" rIns="0" bIns="0" anchor="ctr">
            <a:normAutofit/>
          </a:bodyPr>
          <a:lstStyle/>
          <a:p>
            <a:pPr algn="ctr">
              <a:buNone/>
            </a:pPr>
            <a:r>
              <a:rPr lang="en-US" sz="750" b="1">
                <a:solidFill>
                  <a:srgbClr val="FFFFFF"/>
                </a:solidFill>
                <a:latin typeface="Arial"/>
                <a:cs typeface="Arial"/>
              </a:rPr>
              <a:t>1</a:t>
            </a:r>
          </a:p>
        </p:txBody>
      </p:sp>
      <p:sp>
        <p:nvSpPr>
          <p:cNvPr id="503" name="t">
            <a:extLst>
              <a:ext uri="{FF2B5EF4-FFF2-40B4-BE49-F238E27FC236}">
                <a16:creationId xmlns:a16="http://schemas.microsoft.com/office/drawing/2014/main" id="{DC5C63A2-2D6F-5476-75F7-88BC98D28B35}"/>
              </a:ext>
            </a:extLst>
          </p:cNvPr>
          <p:cNvSpPr txBox="1"/>
          <p:nvPr/>
        </p:nvSpPr>
        <p:spPr>
          <a:xfrm>
            <a:off x="1206500" y="2247900"/>
            <a:ext cx="1255346" cy="368300"/>
          </a:xfrm>
          <a:prstGeom prst="rect">
            <a:avLst/>
          </a:prstGeom>
          <a:noFill/>
        </p:spPr>
        <p:txBody>
          <a:bodyPr wrap="square" lIns="0" tIns="0" rIns="0" bIns="0" anchor="ctr">
            <a:noAutofit/>
          </a:bodyPr>
          <a:lstStyle/>
          <a:p>
            <a:pPr algn="l">
              <a:buNone/>
            </a:pPr>
            <a:r>
              <a:rPr lang="en-US" sz="900" b="1">
                <a:solidFill>
                  <a:srgbClr val="1B2A41"/>
                </a:solidFill>
                <a:latin typeface="Arial"/>
                <a:cs typeface="Arial"/>
              </a:rPr>
              <a:t>AI-001  </a:t>
            </a:r>
            <a:r>
              <a:rPr lang="en-US" sz="900" b="0">
                <a:solidFill>
                  <a:srgbClr val="1C2B29"/>
                </a:solidFill>
                <a:latin typeface="Arial"/>
                <a:cs typeface="Arial"/>
              </a:rPr>
              <a:t>Intent Identifier and attachment detection</a:t>
            </a:r>
          </a:p>
        </p:txBody>
      </p:sp>
      <p:sp>
        <p:nvSpPr>
          <p:cNvPr id="504" name="t">
            <a:extLst>
              <a:ext uri="{FF2B5EF4-FFF2-40B4-BE49-F238E27FC236}">
                <a16:creationId xmlns:a16="http://schemas.microsoft.com/office/drawing/2014/main" id="{76AE51EF-0D90-76CA-2AE7-D975BA33AC96}"/>
              </a:ext>
            </a:extLst>
          </p:cNvPr>
          <p:cNvSpPr txBox="1"/>
          <p:nvPr/>
        </p:nvSpPr>
        <p:spPr>
          <a:xfrm>
            <a:off x="2602522" y="2247900"/>
            <a:ext cx="8890977" cy="482600"/>
          </a:xfrm>
          <a:prstGeom prst="rect">
            <a:avLst/>
          </a:prstGeom>
          <a:noFill/>
        </p:spPr>
        <p:txBody>
          <a:bodyPr wrap="square" lIns="0" tIns="0" rIns="0" bIns="0" anchor="ctr">
            <a:noAutofit/>
          </a:bodyPr>
          <a:lstStyle/>
          <a:p>
            <a:r>
              <a:rPr lang="en-US" sz="1000">
                <a:solidFill>
                  <a:srgbClr val="5C6B7A"/>
                </a:solidFill>
                <a:ea typeface="Arial" pitchFamily="34" charset="-122"/>
                <a:cs typeface="Arial"/>
              </a:rPr>
              <a:t>Intent Identifier and attachment detection automatically determines why the member (one or more reasons) is contacting HESTA. It identifies the business scenario, </a:t>
            </a:r>
            <a:r>
              <a:rPr lang="en-US" sz="1000" err="1">
                <a:solidFill>
                  <a:srgbClr val="5C6B7A"/>
                </a:solidFill>
                <a:ea typeface="Arial" pitchFamily="34" charset="-122"/>
                <a:cs typeface="Arial"/>
              </a:rPr>
              <a:t>recognises</a:t>
            </a:r>
            <a:r>
              <a:rPr lang="en-US" sz="1000">
                <a:solidFill>
                  <a:srgbClr val="5C6B7A"/>
                </a:solidFill>
                <a:ea typeface="Arial" pitchFamily="34" charset="-122"/>
                <a:cs typeface="Arial"/>
              </a:rPr>
              <a:t> multiple requests and provides a confidence score before any operational work begins. This creates a consistent starting point for every member interaction. It also detects attachments in the email and their validity.</a:t>
            </a:r>
            <a:endParaRPr lang="en-US" sz="1000" b="0">
              <a:solidFill>
                <a:srgbClr val="5C6B7A"/>
              </a:solidFill>
              <a:latin typeface="Arial"/>
              <a:cs typeface="Arial"/>
            </a:endParaRPr>
          </a:p>
        </p:txBody>
      </p:sp>
      <p:sp>
        <p:nvSpPr>
          <p:cNvPr id="514" name="r">
            <a:extLst>
              <a:ext uri="{FF2B5EF4-FFF2-40B4-BE49-F238E27FC236}">
                <a16:creationId xmlns:a16="http://schemas.microsoft.com/office/drawing/2014/main" id="{4313219B-8D4E-F2A6-CDAE-1E92D9FD5644}"/>
              </a:ext>
            </a:extLst>
          </p:cNvPr>
          <p:cNvSpPr/>
          <p:nvPr/>
        </p:nvSpPr>
        <p:spPr>
          <a:xfrm>
            <a:off x="698500" y="2743200"/>
            <a:ext cx="10795000" cy="406400"/>
          </a:xfrm>
          <a:prstGeom prst="rect">
            <a:avLst/>
          </a:prstGeom>
          <a:solidFill>
            <a:srgbClr val="F6F7F9"/>
          </a:solidFill>
          <a:ln>
            <a:noFill/>
          </a:ln>
        </p:spPr>
        <p:txBody>
          <a:bodyPr/>
          <a:lstStyle/>
          <a:p>
            <a:endParaRPr/>
          </a:p>
        </p:txBody>
      </p:sp>
      <p:sp>
        <p:nvSpPr>
          <p:cNvPr id="515" name="r">
            <a:extLst>
              <a:ext uri="{FF2B5EF4-FFF2-40B4-BE49-F238E27FC236}">
                <a16:creationId xmlns:a16="http://schemas.microsoft.com/office/drawing/2014/main" id="{D5B8A516-A827-1831-0047-6D91F388D78E}"/>
              </a:ext>
            </a:extLst>
          </p:cNvPr>
          <p:cNvSpPr/>
          <p:nvPr/>
        </p:nvSpPr>
        <p:spPr>
          <a:xfrm>
            <a:off x="806450" y="2819400"/>
            <a:ext cx="215900" cy="215900"/>
          </a:xfrm>
          <a:prstGeom prst="roundRect">
            <a:avLst>
              <a:gd name="adj" fmla="val 50"/>
            </a:avLst>
          </a:prstGeom>
          <a:solidFill>
            <a:srgbClr val="7226E0"/>
          </a:solidFill>
          <a:ln>
            <a:noFill/>
          </a:ln>
        </p:spPr>
        <p:txBody>
          <a:bodyPr/>
          <a:lstStyle/>
          <a:p>
            <a:endParaRPr/>
          </a:p>
        </p:txBody>
      </p:sp>
      <p:sp>
        <p:nvSpPr>
          <p:cNvPr id="516" name="t">
            <a:extLst>
              <a:ext uri="{FF2B5EF4-FFF2-40B4-BE49-F238E27FC236}">
                <a16:creationId xmlns:a16="http://schemas.microsoft.com/office/drawing/2014/main" id="{BD6C35D5-9B6D-E92F-CB40-AEB317D748E4}"/>
              </a:ext>
            </a:extLst>
          </p:cNvPr>
          <p:cNvSpPr txBox="1"/>
          <p:nvPr/>
        </p:nvSpPr>
        <p:spPr>
          <a:xfrm>
            <a:off x="806450" y="2819400"/>
            <a:ext cx="215900" cy="215900"/>
          </a:xfrm>
          <a:prstGeom prst="rect">
            <a:avLst/>
          </a:prstGeom>
          <a:noFill/>
        </p:spPr>
        <p:txBody>
          <a:bodyPr wrap="square" lIns="0" tIns="0" rIns="0" bIns="0" anchor="ctr">
            <a:normAutofit/>
          </a:bodyPr>
          <a:lstStyle/>
          <a:p>
            <a:pPr algn="ctr">
              <a:buNone/>
            </a:pPr>
            <a:r>
              <a:rPr lang="en-US" sz="750" b="1">
                <a:solidFill>
                  <a:srgbClr val="FFFFFF"/>
                </a:solidFill>
                <a:latin typeface="Arial"/>
                <a:cs typeface="Arial"/>
              </a:rPr>
              <a:t>2</a:t>
            </a:r>
          </a:p>
        </p:txBody>
      </p:sp>
      <p:sp>
        <p:nvSpPr>
          <p:cNvPr id="517" name="t">
            <a:extLst>
              <a:ext uri="{FF2B5EF4-FFF2-40B4-BE49-F238E27FC236}">
                <a16:creationId xmlns:a16="http://schemas.microsoft.com/office/drawing/2014/main" id="{A2830611-A5FF-9E28-C892-C0C6A6C8B140}"/>
              </a:ext>
            </a:extLst>
          </p:cNvPr>
          <p:cNvSpPr txBox="1"/>
          <p:nvPr/>
        </p:nvSpPr>
        <p:spPr>
          <a:xfrm>
            <a:off x="1206500" y="2781300"/>
            <a:ext cx="1255346" cy="368300"/>
          </a:xfrm>
          <a:prstGeom prst="rect">
            <a:avLst/>
          </a:prstGeom>
          <a:noFill/>
        </p:spPr>
        <p:txBody>
          <a:bodyPr wrap="square" lIns="0" tIns="0" rIns="0" bIns="0" anchor="ctr">
            <a:normAutofit/>
          </a:bodyPr>
          <a:lstStyle/>
          <a:p>
            <a:pPr algn="l">
              <a:buNone/>
            </a:pPr>
            <a:r>
              <a:rPr lang="en-US" sz="900" b="1">
                <a:solidFill>
                  <a:srgbClr val="1B2A41"/>
                </a:solidFill>
                <a:latin typeface="Arial"/>
                <a:cs typeface="Arial"/>
              </a:rPr>
              <a:t>AI-002  </a:t>
            </a:r>
            <a:r>
              <a:rPr lang="en-US" sz="900" b="0">
                <a:solidFill>
                  <a:srgbClr val="1C2B29"/>
                </a:solidFill>
                <a:latin typeface="Arial"/>
                <a:cs typeface="Arial"/>
              </a:rPr>
              <a:t>Conversation Context Manager</a:t>
            </a:r>
          </a:p>
        </p:txBody>
      </p:sp>
      <p:sp>
        <p:nvSpPr>
          <p:cNvPr id="518" name="t">
            <a:extLst>
              <a:ext uri="{FF2B5EF4-FFF2-40B4-BE49-F238E27FC236}">
                <a16:creationId xmlns:a16="http://schemas.microsoft.com/office/drawing/2014/main" id="{90FB7F22-DFD9-F8B7-E8F4-62ED1DC89FDE}"/>
              </a:ext>
            </a:extLst>
          </p:cNvPr>
          <p:cNvSpPr txBox="1"/>
          <p:nvPr/>
        </p:nvSpPr>
        <p:spPr>
          <a:xfrm>
            <a:off x="2602522" y="2781300"/>
            <a:ext cx="8890977" cy="355600"/>
          </a:xfrm>
          <a:prstGeom prst="rect">
            <a:avLst/>
          </a:prstGeom>
          <a:noFill/>
        </p:spPr>
        <p:txBody>
          <a:bodyPr wrap="square" lIns="0" tIns="0" rIns="0" bIns="0" anchor="ctr">
            <a:normAutofit/>
          </a:bodyPr>
          <a:lstStyle/>
          <a:p>
            <a:r>
              <a:rPr lang="en-US" sz="1000">
                <a:solidFill>
                  <a:srgbClr val="5C6B7A"/>
                </a:solidFill>
                <a:ea typeface="Arial" pitchFamily="34" charset="-122"/>
                <a:cs typeface="Arial"/>
              </a:rPr>
              <a:t>Conversation Context Manager reconstructs the conversation and presents a concise operational summary. Agents immediately understand the history of the case without manually reviewing multiple emails.</a:t>
            </a:r>
            <a:endParaRPr lang="en-US" sz="1000" b="0">
              <a:solidFill>
                <a:srgbClr val="5C6B7A"/>
              </a:solidFill>
              <a:latin typeface="Arial"/>
              <a:cs typeface="Arial"/>
            </a:endParaRPr>
          </a:p>
        </p:txBody>
      </p:sp>
      <p:sp>
        <p:nvSpPr>
          <p:cNvPr id="528" name="r">
            <a:extLst>
              <a:ext uri="{FF2B5EF4-FFF2-40B4-BE49-F238E27FC236}">
                <a16:creationId xmlns:a16="http://schemas.microsoft.com/office/drawing/2014/main" id="{09D2855B-FCCE-7707-468A-96CE79C5C15C}"/>
              </a:ext>
            </a:extLst>
          </p:cNvPr>
          <p:cNvSpPr/>
          <p:nvPr/>
        </p:nvSpPr>
        <p:spPr>
          <a:xfrm>
            <a:off x="806450" y="3273425"/>
            <a:ext cx="215900" cy="215900"/>
          </a:xfrm>
          <a:prstGeom prst="roundRect">
            <a:avLst>
              <a:gd name="adj" fmla="val 50"/>
            </a:avLst>
          </a:prstGeom>
          <a:solidFill>
            <a:srgbClr val="7226E0"/>
          </a:solidFill>
          <a:ln>
            <a:noFill/>
          </a:ln>
        </p:spPr>
        <p:txBody>
          <a:bodyPr/>
          <a:lstStyle/>
          <a:p>
            <a:endParaRPr/>
          </a:p>
        </p:txBody>
      </p:sp>
      <p:sp>
        <p:nvSpPr>
          <p:cNvPr id="529" name="t">
            <a:extLst>
              <a:ext uri="{FF2B5EF4-FFF2-40B4-BE49-F238E27FC236}">
                <a16:creationId xmlns:a16="http://schemas.microsoft.com/office/drawing/2014/main" id="{100DFCCA-D76E-1E69-520C-A46742E8DCA2}"/>
              </a:ext>
            </a:extLst>
          </p:cNvPr>
          <p:cNvSpPr txBox="1"/>
          <p:nvPr/>
        </p:nvSpPr>
        <p:spPr>
          <a:xfrm>
            <a:off x="806450" y="3263900"/>
            <a:ext cx="215900" cy="215900"/>
          </a:xfrm>
          <a:prstGeom prst="rect">
            <a:avLst/>
          </a:prstGeom>
          <a:noFill/>
        </p:spPr>
        <p:txBody>
          <a:bodyPr wrap="square" lIns="0" tIns="0" rIns="0" bIns="0" anchor="ctr">
            <a:normAutofit/>
          </a:bodyPr>
          <a:lstStyle/>
          <a:p>
            <a:pPr algn="ctr">
              <a:buNone/>
            </a:pPr>
            <a:r>
              <a:rPr lang="en-US" sz="750" b="1">
                <a:solidFill>
                  <a:srgbClr val="FFFFFF"/>
                </a:solidFill>
                <a:latin typeface="Arial"/>
                <a:cs typeface="Arial"/>
              </a:rPr>
              <a:t>3</a:t>
            </a:r>
          </a:p>
        </p:txBody>
      </p:sp>
      <p:sp>
        <p:nvSpPr>
          <p:cNvPr id="530" name="t">
            <a:extLst>
              <a:ext uri="{FF2B5EF4-FFF2-40B4-BE49-F238E27FC236}">
                <a16:creationId xmlns:a16="http://schemas.microsoft.com/office/drawing/2014/main" id="{16CFDEEA-59FA-D8C8-0726-E67BBB04D9B5}"/>
              </a:ext>
            </a:extLst>
          </p:cNvPr>
          <p:cNvSpPr txBox="1"/>
          <p:nvPr/>
        </p:nvSpPr>
        <p:spPr>
          <a:xfrm>
            <a:off x="1206500" y="3187700"/>
            <a:ext cx="1255346" cy="368300"/>
          </a:xfrm>
          <a:prstGeom prst="rect">
            <a:avLst/>
          </a:prstGeom>
          <a:noFill/>
        </p:spPr>
        <p:txBody>
          <a:bodyPr wrap="square" lIns="0" tIns="0" rIns="0" bIns="0" anchor="ctr">
            <a:normAutofit/>
          </a:bodyPr>
          <a:lstStyle/>
          <a:p>
            <a:pPr algn="l">
              <a:buNone/>
            </a:pPr>
            <a:r>
              <a:rPr lang="en-US" sz="900" b="1">
                <a:solidFill>
                  <a:srgbClr val="1B2A41"/>
                </a:solidFill>
                <a:latin typeface="Arial"/>
                <a:cs typeface="Arial"/>
              </a:rPr>
              <a:t>AI-003  </a:t>
            </a:r>
            <a:r>
              <a:rPr lang="en-US" sz="900" b="0">
                <a:solidFill>
                  <a:srgbClr val="1C2B29"/>
                </a:solidFill>
                <a:latin typeface="Arial"/>
                <a:cs typeface="Arial"/>
              </a:rPr>
              <a:t>Identity &amp; Profiling Agent</a:t>
            </a:r>
          </a:p>
        </p:txBody>
      </p:sp>
      <p:sp>
        <p:nvSpPr>
          <p:cNvPr id="531" name="t">
            <a:extLst>
              <a:ext uri="{FF2B5EF4-FFF2-40B4-BE49-F238E27FC236}">
                <a16:creationId xmlns:a16="http://schemas.microsoft.com/office/drawing/2014/main" id="{66C7AA1F-7C15-5D70-FC94-FD52AB711D35}"/>
              </a:ext>
            </a:extLst>
          </p:cNvPr>
          <p:cNvSpPr txBox="1"/>
          <p:nvPr/>
        </p:nvSpPr>
        <p:spPr>
          <a:xfrm>
            <a:off x="2602522" y="3187700"/>
            <a:ext cx="8890977" cy="482600"/>
          </a:xfrm>
          <a:prstGeom prst="rect">
            <a:avLst/>
          </a:prstGeom>
          <a:noFill/>
        </p:spPr>
        <p:txBody>
          <a:bodyPr wrap="square" lIns="0" tIns="0" rIns="0" bIns="0" anchor="ctr">
            <a:noAutofit/>
          </a:bodyPr>
          <a:lstStyle/>
          <a:p>
            <a:r>
              <a:rPr lang="en-US" sz="1000">
                <a:solidFill>
                  <a:srgbClr val="5C6B7A"/>
                </a:solidFill>
                <a:ea typeface="Arial" pitchFamily="34" charset="-122"/>
                <a:cs typeface="Arial"/>
              </a:rPr>
              <a:t>the Identity &amp; Profiling Agent assembles a trusted member profile by matching available identifiers and determining who is interacting with HESTA. This gives operational teams the information they need to begin servicing the member more quickly while maintaining appropriate human verification before regulated actions are taken.</a:t>
            </a:r>
            <a:endParaRPr lang="en-US" sz="1000" b="0">
              <a:solidFill>
                <a:srgbClr val="5C6B7A"/>
              </a:solidFill>
              <a:latin typeface="Arial"/>
              <a:cs typeface="Arial"/>
            </a:endParaRPr>
          </a:p>
        </p:txBody>
      </p:sp>
      <p:sp>
        <p:nvSpPr>
          <p:cNvPr id="541" name="r">
            <a:extLst>
              <a:ext uri="{FF2B5EF4-FFF2-40B4-BE49-F238E27FC236}">
                <a16:creationId xmlns:a16="http://schemas.microsoft.com/office/drawing/2014/main" id="{0DF3173E-FC39-144E-2372-21A7B424E49F}"/>
              </a:ext>
            </a:extLst>
          </p:cNvPr>
          <p:cNvSpPr/>
          <p:nvPr/>
        </p:nvSpPr>
        <p:spPr>
          <a:xfrm>
            <a:off x="698500" y="3683000"/>
            <a:ext cx="10795000" cy="406400"/>
          </a:xfrm>
          <a:prstGeom prst="rect">
            <a:avLst/>
          </a:prstGeom>
          <a:solidFill>
            <a:srgbClr val="F6F7F9"/>
          </a:solidFill>
          <a:ln>
            <a:noFill/>
          </a:ln>
        </p:spPr>
        <p:txBody>
          <a:bodyPr/>
          <a:lstStyle/>
          <a:p>
            <a:endParaRPr/>
          </a:p>
        </p:txBody>
      </p:sp>
      <p:sp>
        <p:nvSpPr>
          <p:cNvPr id="542" name="r">
            <a:extLst>
              <a:ext uri="{FF2B5EF4-FFF2-40B4-BE49-F238E27FC236}">
                <a16:creationId xmlns:a16="http://schemas.microsoft.com/office/drawing/2014/main" id="{22F96EF2-4D42-5429-4F54-B2DF9C95B282}"/>
              </a:ext>
            </a:extLst>
          </p:cNvPr>
          <p:cNvSpPr/>
          <p:nvPr/>
        </p:nvSpPr>
        <p:spPr>
          <a:xfrm>
            <a:off x="806450" y="3759200"/>
            <a:ext cx="215900" cy="215900"/>
          </a:xfrm>
          <a:prstGeom prst="roundRect">
            <a:avLst>
              <a:gd name="adj" fmla="val 50"/>
            </a:avLst>
          </a:prstGeom>
          <a:solidFill>
            <a:srgbClr val="7226E0"/>
          </a:solidFill>
          <a:ln>
            <a:noFill/>
          </a:ln>
        </p:spPr>
        <p:txBody>
          <a:bodyPr/>
          <a:lstStyle/>
          <a:p>
            <a:endParaRPr/>
          </a:p>
        </p:txBody>
      </p:sp>
      <p:sp>
        <p:nvSpPr>
          <p:cNvPr id="543" name="t">
            <a:extLst>
              <a:ext uri="{FF2B5EF4-FFF2-40B4-BE49-F238E27FC236}">
                <a16:creationId xmlns:a16="http://schemas.microsoft.com/office/drawing/2014/main" id="{CF64D317-D0B0-DC3F-838E-653B35E6022B}"/>
              </a:ext>
            </a:extLst>
          </p:cNvPr>
          <p:cNvSpPr txBox="1"/>
          <p:nvPr/>
        </p:nvSpPr>
        <p:spPr>
          <a:xfrm>
            <a:off x="806450" y="3759200"/>
            <a:ext cx="215900" cy="215900"/>
          </a:xfrm>
          <a:prstGeom prst="rect">
            <a:avLst/>
          </a:prstGeom>
          <a:noFill/>
        </p:spPr>
        <p:txBody>
          <a:bodyPr wrap="square" lIns="0" tIns="0" rIns="0" bIns="0" anchor="ctr">
            <a:normAutofit/>
          </a:bodyPr>
          <a:lstStyle/>
          <a:p>
            <a:pPr algn="ctr">
              <a:buNone/>
            </a:pPr>
            <a:r>
              <a:rPr lang="en-US" sz="750" b="1">
                <a:solidFill>
                  <a:srgbClr val="FFFFFF"/>
                </a:solidFill>
                <a:latin typeface="Arial"/>
                <a:cs typeface="Arial"/>
              </a:rPr>
              <a:t>4</a:t>
            </a:r>
          </a:p>
        </p:txBody>
      </p:sp>
      <p:sp>
        <p:nvSpPr>
          <p:cNvPr id="544" name="t">
            <a:extLst>
              <a:ext uri="{FF2B5EF4-FFF2-40B4-BE49-F238E27FC236}">
                <a16:creationId xmlns:a16="http://schemas.microsoft.com/office/drawing/2014/main" id="{47250DBD-CCAA-FE1F-5B61-ADB7B8E4D999}"/>
              </a:ext>
            </a:extLst>
          </p:cNvPr>
          <p:cNvSpPr txBox="1"/>
          <p:nvPr/>
        </p:nvSpPr>
        <p:spPr>
          <a:xfrm>
            <a:off x="1206500" y="3721100"/>
            <a:ext cx="1255346" cy="368300"/>
          </a:xfrm>
          <a:prstGeom prst="rect">
            <a:avLst/>
          </a:prstGeom>
          <a:noFill/>
        </p:spPr>
        <p:txBody>
          <a:bodyPr wrap="square" lIns="0" tIns="0" rIns="0" bIns="0" anchor="ctr">
            <a:normAutofit/>
          </a:bodyPr>
          <a:lstStyle/>
          <a:p>
            <a:pPr algn="l">
              <a:buNone/>
            </a:pPr>
            <a:r>
              <a:rPr lang="en-US" sz="900" b="1">
                <a:solidFill>
                  <a:srgbClr val="1B2A41"/>
                </a:solidFill>
                <a:latin typeface="Arial"/>
                <a:cs typeface="Arial"/>
              </a:rPr>
              <a:t>AI-005  </a:t>
            </a:r>
            <a:r>
              <a:rPr lang="en-US" sz="900" b="0">
                <a:solidFill>
                  <a:srgbClr val="1C2B29"/>
                </a:solidFill>
                <a:latin typeface="Arial"/>
                <a:cs typeface="Arial"/>
              </a:rPr>
              <a:t>Empathy Agent</a:t>
            </a:r>
          </a:p>
        </p:txBody>
      </p:sp>
      <p:sp>
        <p:nvSpPr>
          <p:cNvPr id="545" name="t">
            <a:extLst>
              <a:ext uri="{FF2B5EF4-FFF2-40B4-BE49-F238E27FC236}">
                <a16:creationId xmlns:a16="http://schemas.microsoft.com/office/drawing/2014/main" id="{CB95EB5E-65E5-80E8-BB38-12BF6AC4463A}"/>
              </a:ext>
            </a:extLst>
          </p:cNvPr>
          <p:cNvSpPr txBox="1"/>
          <p:nvPr/>
        </p:nvSpPr>
        <p:spPr>
          <a:xfrm>
            <a:off x="2602522" y="3721100"/>
            <a:ext cx="8890977" cy="355600"/>
          </a:xfrm>
          <a:prstGeom prst="rect">
            <a:avLst/>
          </a:prstGeom>
          <a:noFill/>
        </p:spPr>
        <p:txBody>
          <a:bodyPr wrap="square" lIns="0" tIns="0" rIns="0" bIns="0" anchor="ctr">
            <a:noAutofit/>
          </a:bodyPr>
          <a:lstStyle/>
          <a:p>
            <a:r>
              <a:rPr lang="en-US" sz="1000">
                <a:solidFill>
                  <a:srgbClr val="5C6B7A"/>
                </a:solidFill>
                <a:ea typeface="Arial" pitchFamily="34" charset="-122"/>
                <a:cs typeface="Arial"/>
              </a:rPr>
              <a:t>Empathy Agent analyses the language, identifies vulnerability, complaint indicators, emotional sentiment and operational priority, then recommends the appropriate level of attention before work begins. Human agents remain responsible for all operational decisions.</a:t>
            </a:r>
            <a:endParaRPr lang="en-US" sz="1000" b="0">
              <a:solidFill>
                <a:srgbClr val="5C6B7A"/>
              </a:solidFill>
              <a:latin typeface="Arial"/>
              <a:cs typeface="Arial"/>
            </a:endParaRPr>
          </a:p>
        </p:txBody>
      </p:sp>
      <p:sp>
        <p:nvSpPr>
          <p:cNvPr id="555" name="r">
            <a:extLst>
              <a:ext uri="{FF2B5EF4-FFF2-40B4-BE49-F238E27FC236}">
                <a16:creationId xmlns:a16="http://schemas.microsoft.com/office/drawing/2014/main" id="{01821E9A-DE44-80B9-FE47-C04DCDD5F953}"/>
              </a:ext>
            </a:extLst>
          </p:cNvPr>
          <p:cNvSpPr/>
          <p:nvPr/>
        </p:nvSpPr>
        <p:spPr>
          <a:xfrm>
            <a:off x="806450" y="4165600"/>
            <a:ext cx="215900" cy="215900"/>
          </a:xfrm>
          <a:prstGeom prst="roundRect">
            <a:avLst>
              <a:gd name="adj" fmla="val 50"/>
            </a:avLst>
          </a:prstGeom>
          <a:solidFill>
            <a:srgbClr val="7226E0"/>
          </a:solidFill>
          <a:ln>
            <a:noFill/>
          </a:ln>
        </p:spPr>
        <p:txBody>
          <a:bodyPr/>
          <a:lstStyle/>
          <a:p>
            <a:endParaRPr/>
          </a:p>
        </p:txBody>
      </p:sp>
      <p:sp>
        <p:nvSpPr>
          <p:cNvPr id="556" name="t">
            <a:extLst>
              <a:ext uri="{FF2B5EF4-FFF2-40B4-BE49-F238E27FC236}">
                <a16:creationId xmlns:a16="http://schemas.microsoft.com/office/drawing/2014/main" id="{0D3E0E42-6E52-6FDB-3182-B88C167CECDC}"/>
              </a:ext>
            </a:extLst>
          </p:cNvPr>
          <p:cNvSpPr txBox="1"/>
          <p:nvPr/>
        </p:nvSpPr>
        <p:spPr>
          <a:xfrm>
            <a:off x="806450" y="4165600"/>
            <a:ext cx="215900" cy="215900"/>
          </a:xfrm>
          <a:prstGeom prst="rect">
            <a:avLst/>
          </a:prstGeom>
          <a:noFill/>
        </p:spPr>
        <p:txBody>
          <a:bodyPr wrap="square" lIns="0" tIns="0" rIns="0" bIns="0" anchor="ctr">
            <a:normAutofit/>
          </a:bodyPr>
          <a:lstStyle/>
          <a:p>
            <a:pPr algn="ctr">
              <a:buNone/>
            </a:pPr>
            <a:r>
              <a:rPr lang="en-US" sz="750" b="1">
                <a:solidFill>
                  <a:srgbClr val="FFFFFF"/>
                </a:solidFill>
                <a:latin typeface="Arial"/>
                <a:cs typeface="Arial"/>
              </a:rPr>
              <a:t>5</a:t>
            </a:r>
          </a:p>
        </p:txBody>
      </p:sp>
      <p:sp>
        <p:nvSpPr>
          <p:cNvPr id="557" name="t">
            <a:extLst>
              <a:ext uri="{FF2B5EF4-FFF2-40B4-BE49-F238E27FC236}">
                <a16:creationId xmlns:a16="http://schemas.microsoft.com/office/drawing/2014/main" id="{32A76BFE-5AA7-A20B-946B-F7B253B619C0}"/>
              </a:ext>
            </a:extLst>
          </p:cNvPr>
          <p:cNvSpPr txBox="1"/>
          <p:nvPr/>
        </p:nvSpPr>
        <p:spPr>
          <a:xfrm>
            <a:off x="1206500" y="4127500"/>
            <a:ext cx="1255346" cy="368300"/>
          </a:xfrm>
          <a:prstGeom prst="rect">
            <a:avLst/>
          </a:prstGeom>
          <a:noFill/>
        </p:spPr>
        <p:txBody>
          <a:bodyPr wrap="square" lIns="0" tIns="0" rIns="0" bIns="0" anchor="ctr">
            <a:normAutofit/>
          </a:bodyPr>
          <a:lstStyle/>
          <a:p>
            <a:pPr algn="l">
              <a:buNone/>
            </a:pPr>
            <a:r>
              <a:rPr lang="en-US" sz="900" b="1">
                <a:solidFill>
                  <a:srgbClr val="1B2A41"/>
                </a:solidFill>
                <a:latin typeface="Arial"/>
                <a:cs typeface="Arial"/>
              </a:rPr>
              <a:t>AI-011  </a:t>
            </a:r>
            <a:r>
              <a:rPr lang="en-US" sz="900" b="0">
                <a:solidFill>
                  <a:srgbClr val="1C2B29"/>
                </a:solidFill>
                <a:latin typeface="Arial"/>
                <a:cs typeface="Arial"/>
              </a:rPr>
              <a:t>Writer</a:t>
            </a:r>
          </a:p>
        </p:txBody>
      </p:sp>
      <p:sp>
        <p:nvSpPr>
          <p:cNvPr id="558" name="t">
            <a:extLst>
              <a:ext uri="{FF2B5EF4-FFF2-40B4-BE49-F238E27FC236}">
                <a16:creationId xmlns:a16="http://schemas.microsoft.com/office/drawing/2014/main" id="{BDAF9752-3C12-0A72-DF74-AE5D7E6ABF83}"/>
              </a:ext>
            </a:extLst>
          </p:cNvPr>
          <p:cNvSpPr txBox="1"/>
          <p:nvPr/>
        </p:nvSpPr>
        <p:spPr>
          <a:xfrm>
            <a:off x="2602522" y="4127500"/>
            <a:ext cx="8890977" cy="355600"/>
          </a:xfrm>
          <a:prstGeom prst="rect">
            <a:avLst/>
          </a:prstGeom>
          <a:noFill/>
        </p:spPr>
        <p:txBody>
          <a:bodyPr wrap="square" lIns="0" tIns="0" rIns="0" bIns="0" anchor="ctr">
            <a:normAutofit/>
          </a:bodyPr>
          <a:lstStyle/>
          <a:p>
            <a:r>
              <a:rPr lang="en-US" sz="1000">
                <a:solidFill>
                  <a:srgbClr val="5C6B7A"/>
                </a:solidFill>
                <a:ea typeface="Arial" pitchFamily="34" charset="-122"/>
                <a:cs typeface="Arial"/>
              </a:rPr>
              <a:t>Writer generates personalised member communications using approved HESTA knowledge, enabling human agents to review rather than create responses from scratch.</a:t>
            </a:r>
            <a:endParaRPr lang="en-US" sz="1000" b="0">
              <a:solidFill>
                <a:srgbClr val="5C6B7A"/>
              </a:solidFill>
              <a:latin typeface="Arial"/>
              <a:cs typeface="Arial"/>
            </a:endParaRPr>
          </a:p>
        </p:txBody>
      </p:sp>
      <p:sp>
        <p:nvSpPr>
          <p:cNvPr id="568" name="r">
            <a:extLst>
              <a:ext uri="{FF2B5EF4-FFF2-40B4-BE49-F238E27FC236}">
                <a16:creationId xmlns:a16="http://schemas.microsoft.com/office/drawing/2014/main" id="{4219D968-2EC1-A3B7-CE51-762D0538B515}"/>
              </a:ext>
            </a:extLst>
          </p:cNvPr>
          <p:cNvSpPr/>
          <p:nvPr/>
        </p:nvSpPr>
        <p:spPr>
          <a:xfrm>
            <a:off x="698500" y="4495800"/>
            <a:ext cx="10795000" cy="355600"/>
          </a:xfrm>
          <a:prstGeom prst="rect">
            <a:avLst/>
          </a:prstGeom>
          <a:solidFill>
            <a:srgbClr val="F6F7F9"/>
          </a:solidFill>
          <a:ln>
            <a:noFill/>
          </a:ln>
        </p:spPr>
        <p:txBody>
          <a:bodyPr/>
          <a:lstStyle/>
          <a:p>
            <a:endParaRPr/>
          </a:p>
        </p:txBody>
      </p:sp>
      <p:sp>
        <p:nvSpPr>
          <p:cNvPr id="569" name="r">
            <a:extLst>
              <a:ext uri="{FF2B5EF4-FFF2-40B4-BE49-F238E27FC236}">
                <a16:creationId xmlns:a16="http://schemas.microsoft.com/office/drawing/2014/main" id="{202E9B40-50C2-44A1-A007-2EA88249B22C}"/>
              </a:ext>
            </a:extLst>
          </p:cNvPr>
          <p:cNvSpPr/>
          <p:nvPr/>
        </p:nvSpPr>
        <p:spPr>
          <a:xfrm>
            <a:off x="806450" y="4572000"/>
            <a:ext cx="215900" cy="215900"/>
          </a:xfrm>
          <a:prstGeom prst="roundRect">
            <a:avLst>
              <a:gd name="adj" fmla="val 50"/>
            </a:avLst>
          </a:prstGeom>
          <a:solidFill>
            <a:srgbClr val="7226E0"/>
          </a:solidFill>
          <a:ln>
            <a:noFill/>
          </a:ln>
        </p:spPr>
        <p:txBody>
          <a:bodyPr/>
          <a:lstStyle/>
          <a:p>
            <a:endParaRPr/>
          </a:p>
        </p:txBody>
      </p:sp>
      <p:sp>
        <p:nvSpPr>
          <p:cNvPr id="570" name="t">
            <a:extLst>
              <a:ext uri="{FF2B5EF4-FFF2-40B4-BE49-F238E27FC236}">
                <a16:creationId xmlns:a16="http://schemas.microsoft.com/office/drawing/2014/main" id="{BA0B6BEC-6570-A8E8-80DB-091F26631D84}"/>
              </a:ext>
            </a:extLst>
          </p:cNvPr>
          <p:cNvSpPr txBox="1"/>
          <p:nvPr/>
        </p:nvSpPr>
        <p:spPr>
          <a:xfrm>
            <a:off x="806450" y="4572000"/>
            <a:ext cx="215900" cy="215900"/>
          </a:xfrm>
          <a:prstGeom prst="rect">
            <a:avLst/>
          </a:prstGeom>
          <a:noFill/>
        </p:spPr>
        <p:txBody>
          <a:bodyPr wrap="square" lIns="0" tIns="0" rIns="0" bIns="0" anchor="ctr">
            <a:normAutofit/>
          </a:bodyPr>
          <a:lstStyle/>
          <a:p>
            <a:pPr algn="ctr">
              <a:buNone/>
            </a:pPr>
            <a:r>
              <a:rPr lang="en-US" sz="750" b="1">
                <a:solidFill>
                  <a:srgbClr val="FFFFFF"/>
                </a:solidFill>
                <a:latin typeface="Arial"/>
                <a:cs typeface="Arial"/>
              </a:rPr>
              <a:t>6</a:t>
            </a:r>
          </a:p>
        </p:txBody>
      </p:sp>
      <p:sp>
        <p:nvSpPr>
          <p:cNvPr id="571" name="t">
            <a:extLst>
              <a:ext uri="{FF2B5EF4-FFF2-40B4-BE49-F238E27FC236}">
                <a16:creationId xmlns:a16="http://schemas.microsoft.com/office/drawing/2014/main" id="{63106738-3CF4-7858-0EB6-860CDFDEC15E}"/>
              </a:ext>
            </a:extLst>
          </p:cNvPr>
          <p:cNvSpPr txBox="1"/>
          <p:nvPr/>
        </p:nvSpPr>
        <p:spPr>
          <a:xfrm>
            <a:off x="1206500" y="4533900"/>
            <a:ext cx="1255346" cy="368300"/>
          </a:xfrm>
          <a:prstGeom prst="rect">
            <a:avLst/>
          </a:prstGeom>
          <a:noFill/>
        </p:spPr>
        <p:txBody>
          <a:bodyPr wrap="square" lIns="0" tIns="0" rIns="0" bIns="0" anchor="ctr">
            <a:normAutofit/>
          </a:bodyPr>
          <a:lstStyle/>
          <a:p>
            <a:pPr algn="l">
              <a:buNone/>
            </a:pPr>
            <a:r>
              <a:rPr lang="en-US" sz="900" b="1">
                <a:solidFill>
                  <a:srgbClr val="1B2A41"/>
                </a:solidFill>
                <a:latin typeface="Arial"/>
                <a:cs typeface="Arial"/>
              </a:rPr>
              <a:t>AI-012  </a:t>
            </a:r>
            <a:r>
              <a:rPr lang="en-US" sz="900" b="0">
                <a:solidFill>
                  <a:srgbClr val="1C2B29"/>
                </a:solidFill>
                <a:latin typeface="Arial"/>
                <a:cs typeface="Arial"/>
              </a:rPr>
              <a:t>Reviewer &amp; Editor</a:t>
            </a:r>
          </a:p>
        </p:txBody>
      </p:sp>
      <p:sp>
        <p:nvSpPr>
          <p:cNvPr id="572" name="t">
            <a:extLst>
              <a:ext uri="{FF2B5EF4-FFF2-40B4-BE49-F238E27FC236}">
                <a16:creationId xmlns:a16="http://schemas.microsoft.com/office/drawing/2014/main" id="{3F002D92-2DDA-9349-E0B7-0A92EA15B5A2}"/>
              </a:ext>
            </a:extLst>
          </p:cNvPr>
          <p:cNvSpPr txBox="1"/>
          <p:nvPr/>
        </p:nvSpPr>
        <p:spPr>
          <a:xfrm>
            <a:off x="2602522" y="4533900"/>
            <a:ext cx="8890977" cy="304800"/>
          </a:xfrm>
          <a:prstGeom prst="rect">
            <a:avLst/>
          </a:prstGeom>
          <a:noFill/>
        </p:spPr>
        <p:txBody>
          <a:bodyPr wrap="square" lIns="0" tIns="0" rIns="0" bIns="0" anchor="ctr">
            <a:normAutofit/>
          </a:bodyPr>
          <a:lstStyle/>
          <a:p>
            <a:r>
              <a:rPr lang="en-US" sz="1000">
                <a:solidFill>
                  <a:srgbClr val="5C6B7A"/>
                </a:solidFill>
                <a:ea typeface="Arial" pitchFamily="34" charset="-122"/>
                <a:cs typeface="Arial"/>
              </a:rPr>
              <a:t>the Reviewer &amp; Editor validates accuracy, tone, completeness and compliance, ensuring members receive clear and safe communications.</a:t>
            </a:r>
            <a:endParaRPr lang="en-US" sz="1000" b="0">
              <a:solidFill>
                <a:srgbClr val="5C6B7A"/>
              </a:solidFill>
              <a:latin typeface="Arial"/>
              <a:cs typeface="Arial"/>
            </a:endParaRPr>
          </a:p>
        </p:txBody>
      </p:sp>
      <p:sp>
        <p:nvSpPr>
          <p:cNvPr id="582" name="r">
            <a:extLst>
              <a:ext uri="{FF2B5EF4-FFF2-40B4-BE49-F238E27FC236}">
                <a16:creationId xmlns:a16="http://schemas.microsoft.com/office/drawing/2014/main" id="{E33F9AA5-3F8D-148E-0965-0AE46606E796}"/>
              </a:ext>
            </a:extLst>
          </p:cNvPr>
          <p:cNvSpPr/>
          <p:nvPr/>
        </p:nvSpPr>
        <p:spPr>
          <a:xfrm>
            <a:off x="806450" y="4927600"/>
            <a:ext cx="215900" cy="215900"/>
          </a:xfrm>
          <a:prstGeom prst="roundRect">
            <a:avLst>
              <a:gd name="adj" fmla="val 50"/>
            </a:avLst>
          </a:prstGeom>
          <a:solidFill>
            <a:srgbClr val="7226E0"/>
          </a:solidFill>
          <a:ln>
            <a:noFill/>
          </a:ln>
        </p:spPr>
        <p:txBody>
          <a:bodyPr/>
          <a:lstStyle/>
          <a:p>
            <a:endParaRPr/>
          </a:p>
        </p:txBody>
      </p:sp>
      <p:sp>
        <p:nvSpPr>
          <p:cNvPr id="583" name="t">
            <a:extLst>
              <a:ext uri="{FF2B5EF4-FFF2-40B4-BE49-F238E27FC236}">
                <a16:creationId xmlns:a16="http://schemas.microsoft.com/office/drawing/2014/main" id="{837B6D6E-8707-76FB-34C1-31A40F73A347}"/>
              </a:ext>
            </a:extLst>
          </p:cNvPr>
          <p:cNvSpPr txBox="1"/>
          <p:nvPr/>
        </p:nvSpPr>
        <p:spPr>
          <a:xfrm>
            <a:off x="806450" y="4927600"/>
            <a:ext cx="215900" cy="215900"/>
          </a:xfrm>
          <a:prstGeom prst="rect">
            <a:avLst/>
          </a:prstGeom>
          <a:noFill/>
        </p:spPr>
        <p:txBody>
          <a:bodyPr wrap="square" lIns="0" tIns="0" rIns="0" bIns="0" anchor="ctr">
            <a:normAutofit/>
          </a:bodyPr>
          <a:lstStyle/>
          <a:p>
            <a:pPr algn="ctr">
              <a:buNone/>
            </a:pPr>
            <a:r>
              <a:rPr lang="en-US" sz="750" b="1">
                <a:solidFill>
                  <a:srgbClr val="FFFFFF"/>
                </a:solidFill>
                <a:latin typeface="Arial"/>
                <a:cs typeface="Arial"/>
              </a:rPr>
              <a:t>7</a:t>
            </a:r>
          </a:p>
        </p:txBody>
      </p:sp>
      <p:sp>
        <p:nvSpPr>
          <p:cNvPr id="584" name="t">
            <a:extLst>
              <a:ext uri="{FF2B5EF4-FFF2-40B4-BE49-F238E27FC236}">
                <a16:creationId xmlns:a16="http://schemas.microsoft.com/office/drawing/2014/main" id="{24413DB2-7C15-1D27-D968-CBBAB8DE4FC9}"/>
              </a:ext>
            </a:extLst>
          </p:cNvPr>
          <p:cNvSpPr txBox="1"/>
          <p:nvPr/>
        </p:nvSpPr>
        <p:spPr>
          <a:xfrm>
            <a:off x="1206500" y="4889500"/>
            <a:ext cx="1255346" cy="368300"/>
          </a:xfrm>
          <a:prstGeom prst="rect">
            <a:avLst/>
          </a:prstGeom>
          <a:noFill/>
        </p:spPr>
        <p:txBody>
          <a:bodyPr wrap="square" lIns="0" tIns="0" rIns="0" bIns="0" anchor="ctr">
            <a:normAutofit/>
          </a:bodyPr>
          <a:lstStyle/>
          <a:p>
            <a:pPr algn="l">
              <a:buNone/>
            </a:pPr>
            <a:r>
              <a:rPr lang="en-US" sz="900" b="1">
                <a:solidFill>
                  <a:srgbClr val="1B2A41"/>
                </a:solidFill>
                <a:latin typeface="Arial"/>
                <a:cs typeface="Arial"/>
              </a:rPr>
              <a:t>AI-004  </a:t>
            </a:r>
            <a:r>
              <a:rPr lang="en-US" sz="900" b="0">
                <a:solidFill>
                  <a:srgbClr val="1C2B29"/>
                </a:solidFill>
                <a:latin typeface="Arial"/>
                <a:cs typeface="Arial"/>
              </a:rPr>
              <a:t>Attachment Validation Agent</a:t>
            </a:r>
          </a:p>
        </p:txBody>
      </p:sp>
      <p:sp>
        <p:nvSpPr>
          <p:cNvPr id="585" name="t">
            <a:extLst>
              <a:ext uri="{FF2B5EF4-FFF2-40B4-BE49-F238E27FC236}">
                <a16:creationId xmlns:a16="http://schemas.microsoft.com/office/drawing/2014/main" id="{6D5412BA-7082-460C-7D69-558D8BF8DA6E}"/>
              </a:ext>
            </a:extLst>
          </p:cNvPr>
          <p:cNvSpPr txBox="1"/>
          <p:nvPr/>
        </p:nvSpPr>
        <p:spPr>
          <a:xfrm>
            <a:off x="2602522" y="4889500"/>
            <a:ext cx="8890975" cy="355600"/>
          </a:xfrm>
          <a:prstGeom prst="rect">
            <a:avLst/>
          </a:prstGeom>
          <a:noFill/>
        </p:spPr>
        <p:txBody>
          <a:bodyPr wrap="square" lIns="0" tIns="0" rIns="0" bIns="0" anchor="ctr">
            <a:normAutofit/>
          </a:bodyPr>
          <a:lstStyle/>
          <a:p>
            <a:r>
              <a:rPr lang="en-US" sz="1000">
                <a:solidFill>
                  <a:srgbClr val="5C6B7A"/>
                </a:solidFill>
                <a:ea typeface="Arial" pitchFamily="34" charset="-122"/>
                <a:cs typeface="Arial"/>
              </a:rPr>
              <a:t>Attachment Validation Agent identifies the document type, assesses whether it is complete and highlights missing or invalid information before operational processing begins. This reduces rework and speeds up case progression.</a:t>
            </a:r>
            <a:endParaRPr lang="en-US" sz="1000" b="0">
              <a:solidFill>
                <a:srgbClr val="5C6B7A"/>
              </a:solidFill>
              <a:latin typeface="Arial"/>
              <a:cs typeface="Arial"/>
            </a:endParaRPr>
          </a:p>
        </p:txBody>
      </p:sp>
      <p:sp>
        <p:nvSpPr>
          <p:cNvPr id="595" name="r">
            <a:extLst>
              <a:ext uri="{FF2B5EF4-FFF2-40B4-BE49-F238E27FC236}">
                <a16:creationId xmlns:a16="http://schemas.microsoft.com/office/drawing/2014/main" id="{ADF2CE56-015A-63FA-170E-26F14BAF7C8E}"/>
              </a:ext>
            </a:extLst>
          </p:cNvPr>
          <p:cNvSpPr/>
          <p:nvPr/>
        </p:nvSpPr>
        <p:spPr>
          <a:xfrm>
            <a:off x="698500" y="5257800"/>
            <a:ext cx="10795000" cy="381000"/>
          </a:xfrm>
          <a:prstGeom prst="rect">
            <a:avLst/>
          </a:prstGeom>
          <a:solidFill>
            <a:srgbClr val="F4EEF2"/>
          </a:solidFill>
          <a:ln>
            <a:noFill/>
          </a:ln>
        </p:spPr>
        <p:txBody>
          <a:bodyPr/>
          <a:lstStyle/>
          <a:p>
            <a:endParaRPr/>
          </a:p>
        </p:txBody>
      </p:sp>
      <p:sp>
        <p:nvSpPr>
          <p:cNvPr id="596" name="r">
            <a:extLst>
              <a:ext uri="{FF2B5EF4-FFF2-40B4-BE49-F238E27FC236}">
                <a16:creationId xmlns:a16="http://schemas.microsoft.com/office/drawing/2014/main" id="{68D5777F-9FDF-B631-1013-9E72B1987646}"/>
              </a:ext>
            </a:extLst>
          </p:cNvPr>
          <p:cNvSpPr/>
          <p:nvPr/>
        </p:nvSpPr>
        <p:spPr>
          <a:xfrm>
            <a:off x="806450" y="5334000"/>
            <a:ext cx="215900" cy="215900"/>
          </a:xfrm>
          <a:prstGeom prst="roundRect">
            <a:avLst>
              <a:gd name="adj" fmla="val 50"/>
            </a:avLst>
          </a:prstGeom>
          <a:solidFill>
            <a:srgbClr val="F0AD4E"/>
          </a:solidFill>
          <a:ln>
            <a:noFill/>
          </a:ln>
        </p:spPr>
        <p:txBody>
          <a:bodyPr/>
          <a:lstStyle/>
          <a:p>
            <a:endParaRPr/>
          </a:p>
        </p:txBody>
      </p:sp>
      <p:sp>
        <p:nvSpPr>
          <p:cNvPr id="597" name="t">
            <a:extLst>
              <a:ext uri="{FF2B5EF4-FFF2-40B4-BE49-F238E27FC236}">
                <a16:creationId xmlns:a16="http://schemas.microsoft.com/office/drawing/2014/main" id="{4F998A23-9027-C48D-A129-D9EA5D4261CF}"/>
              </a:ext>
            </a:extLst>
          </p:cNvPr>
          <p:cNvSpPr txBox="1"/>
          <p:nvPr/>
        </p:nvSpPr>
        <p:spPr>
          <a:xfrm>
            <a:off x="806450" y="5334000"/>
            <a:ext cx="215900" cy="215900"/>
          </a:xfrm>
          <a:prstGeom prst="rect">
            <a:avLst/>
          </a:prstGeom>
          <a:noFill/>
        </p:spPr>
        <p:txBody>
          <a:bodyPr wrap="square" lIns="0" tIns="0" rIns="0" bIns="0" anchor="ctr">
            <a:normAutofit/>
          </a:bodyPr>
          <a:lstStyle/>
          <a:p>
            <a:pPr algn="ctr">
              <a:buNone/>
            </a:pPr>
            <a:r>
              <a:rPr lang="en-US" sz="750" b="1">
                <a:solidFill>
                  <a:srgbClr val="FFFFFF"/>
                </a:solidFill>
                <a:latin typeface="Arial"/>
                <a:cs typeface="Arial"/>
              </a:rPr>
              <a:t>F</a:t>
            </a:r>
          </a:p>
        </p:txBody>
      </p:sp>
      <p:sp>
        <p:nvSpPr>
          <p:cNvPr id="598" name="t">
            <a:extLst>
              <a:ext uri="{FF2B5EF4-FFF2-40B4-BE49-F238E27FC236}">
                <a16:creationId xmlns:a16="http://schemas.microsoft.com/office/drawing/2014/main" id="{05602295-283B-AF5D-9A8C-B978D27F4485}"/>
              </a:ext>
            </a:extLst>
          </p:cNvPr>
          <p:cNvSpPr txBox="1"/>
          <p:nvPr/>
        </p:nvSpPr>
        <p:spPr>
          <a:xfrm>
            <a:off x="1206500" y="5295900"/>
            <a:ext cx="1255346" cy="393700"/>
          </a:xfrm>
          <a:prstGeom prst="rect">
            <a:avLst/>
          </a:prstGeom>
          <a:noFill/>
        </p:spPr>
        <p:txBody>
          <a:bodyPr wrap="square" lIns="0" tIns="0" rIns="0" bIns="0" anchor="ctr">
            <a:normAutofit/>
          </a:bodyPr>
          <a:lstStyle/>
          <a:p>
            <a:pPr algn="l">
              <a:buNone/>
            </a:pPr>
            <a:r>
              <a:rPr lang="en-US" sz="900" b="1">
                <a:solidFill>
                  <a:srgbClr val="1B2A41"/>
                </a:solidFill>
                <a:latin typeface="Arial"/>
                <a:cs typeface="Arial"/>
              </a:rPr>
              <a:t>AI-013  </a:t>
            </a:r>
            <a:r>
              <a:rPr lang="en-US" sz="900" b="0">
                <a:solidFill>
                  <a:srgbClr val="1C2B29"/>
                </a:solidFill>
                <a:latin typeface="Arial"/>
                <a:cs typeface="Arial"/>
              </a:rPr>
              <a:t>Human Feedback Learning</a:t>
            </a:r>
          </a:p>
        </p:txBody>
      </p:sp>
      <p:sp>
        <p:nvSpPr>
          <p:cNvPr id="599" name="t">
            <a:extLst>
              <a:ext uri="{FF2B5EF4-FFF2-40B4-BE49-F238E27FC236}">
                <a16:creationId xmlns:a16="http://schemas.microsoft.com/office/drawing/2014/main" id="{4D130FA7-7A75-85B6-2C28-4C81A25B0042}"/>
              </a:ext>
            </a:extLst>
          </p:cNvPr>
          <p:cNvSpPr txBox="1"/>
          <p:nvPr/>
        </p:nvSpPr>
        <p:spPr>
          <a:xfrm>
            <a:off x="2602523" y="5295900"/>
            <a:ext cx="8653124" cy="330200"/>
          </a:xfrm>
          <a:prstGeom prst="rect">
            <a:avLst/>
          </a:prstGeom>
          <a:noFill/>
        </p:spPr>
        <p:txBody>
          <a:bodyPr wrap="square" lIns="0" tIns="0" rIns="0" bIns="0" anchor="ctr">
            <a:normAutofit/>
          </a:bodyPr>
          <a:lstStyle/>
          <a:p>
            <a:pPr>
              <a:lnSpc>
                <a:spcPct val="116000"/>
              </a:lnSpc>
            </a:pPr>
            <a:r>
              <a:rPr lang="en-US" sz="1000">
                <a:solidFill>
                  <a:srgbClr val="5C6B7A"/>
                </a:solidFill>
                <a:ea typeface="Arial" pitchFamily="34" charset="-122"/>
                <a:cs typeface="Arial"/>
              </a:rPr>
              <a:t>Human corrections become structured learning inputs, allowing AI performance to improve continuously while maintaining governance.</a:t>
            </a:r>
            <a:endParaRPr lang="en-US" sz="1000">
              <a:cs typeface="Arial"/>
            </a:endParaRPr>
          </a:p>
        </p:txBody>
      </p:sp>
      <p:sp>
        <p:nvSpPr>
          <p:cNvPr id="609" name="r">
            <a:extLst>
              <a:ext uri="{FF2B5EF4-FFF2-40B4-BE49-F238E27FC236}">
                <a16:creationId xmlns:a16="http://schemas.microsoft.com/office/drawing/2014/main" id="{C1FFACFB-0124-AB77-0BB1-38F33484E2B0}"/>
              </a:ext>
            </a:extLst>
          </p:cNvPr>
          <p:cNvSpPr/>
          <p:nvPr/>
        </p:nvSpPr>
        <p:spPr>
          <a:xfrm>
            <a:off x="698500" y="5638800"/>
            <a:ext cx="10795000" cy="482600"/>
          </a:xfrm>
          <a:prstGeom prst="rect">
            <a:avLst/>
          </a:prstGeom>
          <a:solidFill>
            <a:srgbClr val="F4EEF2"/>
          </a:solidFill>
          <a:ln>
            <a:noFill/>
          </a:ln>
        </p:spPr>
        <p:txBody>
          <a:bodyPr/>
          <a:lstStyle/>
          <a:p>
            <a:endParaRPr/>
          </a:p>
        </p:txBody>
      </p:sp>
      <p:sp>
        <p:nvSpPr>
          <p:cNvPr id="610" name="r">
            <a:extLst>
              <a:ext uri="{FF2B5EF4-FFF2-40B4-BE49-F238E27FC236}">
                <a16:creationId xmlns:a16="http://schemas.microsoft.com/office/drawing/2014/main" id="{53DD7404-D7DA-3A6F-7BDE-461C82EB4537}"/>
              </a:ext>
            </a:extLst>
          </p:cNvPr>
          <p:cNvSpPr/>
          <p:nvPr/>
        </p:nvSpPr>
        <p:spPr>
          <a:xfrm>
            <a:off x="806450" y="5715000"/>
            <a:ext cx="215900" cy="215900"/>
          </a:xfrm>
          <a:prstGeom prst="roundRect">
            <a:avLst>
              <a:gd name="adj" fmla="val 50"/>
            </a:avLst>
          </a:prstGeom>
          <a:solidFill>
            <a:srgbClr val="F0AD4E"/>
          </a:solidFill>
          <a:ln>
            <a:noFill/>
          </a:ln>
        </p:spPr>
        <p:txBody>
          <a:bodyPr/>
          <a:lstStyle/>
          <a:p>
            <a:endParaRPr/>
          </a:p>
        </p:txBody>
      </p:sp>
      <p:sp>
        <p:nvSpPr>
          <p:cNvPr id="611" name="t">
            <a:extLst>
              <a:ext uri="{FF2B5EF4-FFF2-40B4-BE49-F238E27FC236}">
                <a16:creationId xmlns:a16="http://schemas.microsoft.com/office/drawing/2014/main" id="{EE54C98F-08A3-53F5-1A89-D0B669546E34}"/>
              </a:ext>
            </a:extLst>
          </p:cNvPr>
          <p:cNvSpPr txBox="1"/>
          <p:nvPr/>
        </p:nvSpPr>
        <p:spPr>
          <a:xfrm>
            <a:off x="806450" y="5715000"/>
            <a:ext cx="215900" cy="215900"/>
          </a:xfrm>
          <a:prstGeom prst="rect">
            <a:avLst/>
          </a:prstGeom>
          <a:noFill/>
        </p:spPr>
        <p:txBody>
          <a:bodyPr wrap="square" lIns="0" tIns="0" rIns="0" bIns="0" anchor="ctr">
            <a:normAutofit/>
          </a:bodyPr>
          <a:lstStyle/>
          <a:p>
            <a:pPr algn="ctr">
              <a:buNone/>
            </a:pPr>
            <a:r>
              <a:rPr lang="en-US" sz="750" b="1">
                <a:solidFill>
                  <a:srgbClr val="FFFFFF"/>
                </a:solidFill>
                <a:latin typeface="Arial"/>
                <a:cs typeface="Arial"/>
              </a:rPr>
              <a:t>F</a:t>
            </a:r>
          </a:p>
        </p:txBody>
      </p:sp>
      <p:sp>
        <p:nvSpPr>
          <p:cNvPr id="612" name="t">
            <a:extLst>
              <a:ext uri="{FF2B5EF4-FFF2-40B4-BE49-F238E27FC236}">
                <a16:creationId xmlns:a16="http://schemas.microsoft.com/office/drawing/2014/main" id="{168F81F4-C976-7ABE-B8DE-6E8132D10616}"/>
              </a:ext>
            </a:extLst>
          </p:cNvPr>
          <p:cNvSpPr txBox="1"/>
          <p:nvPr/>
        </p:nvSpPr>
        <p:spPr>
          <a:xfrm>
            <a:off x="1206500" y="5676900"/>
            <a:ext cx="1255346" cy="393700"/>
          </a:xfrm>
          <a:prstGeom prst="rect">
            <a:avLst/>
          </a:prstGeom>
          <a:noFill/>
        </p:spPr>
        <p:txBody>
          <a:bodyPr wrap="square" lIns="0" tIns="0" rIns="0" bIns="0" anchor="ctr">
            <a:noAutofit/>
          </a:bodyPr>
          <a:lstStyle/>
          <a:p>
            <a:pPr algn="l">
              <a:buNone/>
            </a:pPr>
            <a:r>
              <a:rPr lang="en-US" sz="900" b="1">
                <a:solidFill>
                  <a:srgbClr val="1B2A41"/>
                </a:solidFill>
                <a:latin typeface="Arial"/>
                <a:cs typeface="Arial"/>
              </a:rPr>
              <a:t>AI Dashboard  </a:t>
            </a:r>
            <a:r>
              <a:rPr lang="en-US" sz="900" b="0">
                <a:solidFill>
                  <a:srgbClr val="1C2B29"/>
                </a:solidFill>
                <a:latin typeface="Arial"/>
                <a:cs typeface="Arial"/>
              </a:rPr>
              <a:t>AI Dashboard (Platform Capability)</a:t>
            </a:r>
          </a:p>
        </p:txBody>
      </p:sp>
      <p:sp>
        <p:nvSpPr>
          <p:cNvPr id="613" name="t">
            <a:extLst>
              <a:ext uri="{FF2B5EF4-FFF2-40B4-BE49-F238E27FC236}">
                <a16:creationId xmlns:a16="http://schemas.microsoft.com/office/drawing/2014/main" id="{91FDCA96-C06D-0542-6C5F-91C30B8DAEB3}"/>
              </a:ext>
            </a:extLst>
          </p:cNvPr>
          <p:cNvSpPr txBox="1"/>
          <p:nvPr/>
        </p:nvSpPr>
        <p:spPr>
          <a:xfrm>
            <a:off x="2602523" y="5676900"/>
            <a:ext cx="8653124" cy="431800"/>
          </a:xfrm>
          <a:prstGeom prst="rect">
            <a:avLst/>
          </a:prstGeom>
          <a:noFill/>
        </p:spPr>
        <p:txBody>
          <a:bodyPr wrap="square" lIns="0" tIns="0" rIns="0" bIns="0" anchor="ctr">
            <a:noAutofit/>
          </a:bodyPr>
          <a:lstStyle/>
          <a:p>
            <a:pPr>
              <a:lnSpc>
                <a:spcPct val="116000"/>
              </a:lnSpc>
            </a:pPr>
            <a:r>
              <a:rPr lang="en-US" sz="1000">
                <a:solidFill>
                  <a:srgbClr val="5C6B7A"/>
                </a:solidFill>
                <a:ea typeface="Arial" pitchFamily="34" charset="-122"/>
                <a:cs typeface="Arial"/>
              </a:rPr>
              <a:t>The AI Dashboard provides operational leaders and executives with real-time visibility into AI performance, business outcomes and value realisation, supporting governance, investment decisions and continuous improvement across the enterprise.</a:t>
            </a:r>
            <a:endParaRPr lang="en-US" sz="1000">
              <a:cs typeface="Arial"/>
            </a:endParaRPr>
          </a:p>
        </p:txBody>
      </p:sp>
      <p:sp>
        <p:nvSpPr>
          <p:cNvPr id="623" name="r">
            <a:extLst>
              <a:ext uri="{FF2B5EF4-FFF2-40B4-BE49-F238E27FC236}">
                <a16:creationId xmlns:a16="http://schemas.microsoft.com/office/drawing/2014/main" id="{0E64EF2D-A0F0-354A-BE40-47DB0BCC09D3}"/>
              </a:ext>
            </a:extLst>
          </p:cNvPr>
          <p:cNvSpPr/>
          <p:nvPr/>
        </p:nvSpPr>
        <p:spPr>
          <a:xfrm>
            <a:off x="698500" y="2209800"/>
            <a:ext cx="10795000" cy="10160"/>
          </a:xfrm>
          <a:prstGeom prst="rect">
            <a:avLst/>
          </a:prstGeom>
          <a:solidFill>
            <a:srgbClr val="E3E7EC"/>
          </a:solidFill>
          <a:ln>
            <a:noFill/>
          </a:ln>
        </p:spPr>
        <p:txBody>
          <a:bodyPr/>
          <a:lstStyle/>
          <a:p>
            <a:endParaRPr/>
          </a:p>
        </p:txBody>
      </p:sp>
      <p:sp>
        <p:nvSpPr>
          <p:cNvPr id="624" name="r">
            <a:extLst>
              <a:ext uri="{FF2B5EF4-FFF2-40B4-BE49-F238E27FC236}">
                <a16:creationId xmlns:a16="http://schemas.microsoft.com/office/drawing/2014/main" id="{0450338C-9072-AA9A-8544-0EA4F6F55CEC}"/>
              </a:ext>
            </a:extLst>
          </p:cNvPr>
          <p:cNvSpPr/>
          <p:nvPr/>
        </p:nvSpPr>
        <p:spPr>
          <a:xfrm>
            <a:off x="698500" y="2743200"/>
            <a:ext cx="10795000" cy="10160"/>
          </a:xfrm>
          <a:prstGeom prst="rect">
            <a:avLst/>
          </a:prstGeom>
          <a:solidFill>
            <a:srgbClr val="E3E7EC"/>
          </a:solidFill>
          <a:ln>
            <a:noFill/>
          </a:ln>
        </p:spPr>
        <p:txBody>
          <a:bodyPr/>
          <a:lstStyle/>
          <a:p>
            <a:endParaRPr/>
          </a:p>
        </p:txBody>
      </p:sp>
      <p:sp>
        <p:nvSpPr>
          <p:cNvPr id="625" name="r">
            <a:extLst>
              <a:ext uri="{FF2B5EF4-FFF2-40B4-BE49-F238E27FC236}">
                <a16:creationId xmlns:a16="http://schemas.microsoft.com/office/drawing/2014/main" id="{9A3995ED-C021-ABC2-2774-B837DE75EF6F}"/>
              </a:ext>
            </a:extLst>
          </p:cNvPr>
          <p:cNvSpPr/>
          <p:nvPr/>
        </p:nvSpPr>
        <p:spPr>
          <a:xfrm>
            <a:off x="698500" y="3149600"/>
            <a:ext cx="10795000" cy="10160"/>
          </a:xfrm>
          <a:prstGeom prst="rect">
            <a:avLst/>
          </a:prstGeom>
          <a:solidFill>
            <a:srgbClr val="E3E7EC"/>
          </a:solidFill>
          <a:ln>
            <a:noFill/>
          </a:ln>
        </p:spPr>
        <p:txBody>
          <a:bodyPr/>
          <a:lstStyle/>
          <a:p>
            <a:endParaRPr/>
          </a:p>
        </p:txBody>
      </p:sp>
      <p:sp>
        <p:nvSpPr>
          <p:cNvPr id="626" name="r">
            <a:extLst>
              <a:ext uri="{FF2B5EF4-FFF2-40B4-BE49-F238E27FC236}">
                <a16:creationId xmlns:a16="http://schemas.microsoft.com/office/drawing/2014/main" id="{86551B16-52D5-BF6F-5DFE-D841CA8D569F}"/>
              </a:ext>
            </a:extLst>
          </p:cNvPr>
          <p:cNvSpPr/>
          <p:nvPr/>
        </p:nvSpPr>
        <p:spPr>
          <a:xfrm>
            <a:off x="698500" y="3683000"/>
            <a:ext cx="10795000" cy="10160"/>
          </a:xfrm>
          <a:prstGeom prst="rect">
            <a:avLst/>
          </a:prstGeom>
          <a:solidFill>
            <a:srgbClr val="E3E7EC"/>
          </a:solidFill>
          <a:ln>
            <a:noFill/>
          </a:ln>
        </p:spPr>
        <p:txBody>
          <a:bodyPr/>
          <a:lstStyle/>
          <a:p>
            <a:endParaRPr/>
          </a:p>
        </p:txBody>
      </p:sp>
      <p:sp>
        <p:nvSpPr>
          <p:cNvPr id="627" name="r">
            <a:extLst>
              <a:ext uri="{FF2B5EF4-FFF2-40B4-BE49-F238E27FC236}">
                <a16:creationId xmlns:a16="http://schemas.microsoft.com/office/drawing/2014/main" id="{90AC8A71-3F80-C8BC-B2B2-6431A82DFCAE}"/>
              </a:ext>
            </a:extLst>
          </p:cNvPr>
          <p:cNvSpPr/>
          <p:nvPr/>
        </p:nvSpPr>
        <p:spPr>
          <a:xfrm>
            <a:off x="698500" y="4089400"/>
            <a:ext cx="10795000" cy="10160"/>
          </a:xfrm>
          <a:prstGeom prst="rect">
            <a:avLst/>
          </a:prstGeom>
          <a:solidFill>
            <a:srgbClr val="E3E7EC"/>
          </a:solidFill>
          <a:ln>
            <a:noFill/>
          </a:ln>
        </p:spPr>
        <p:txBody>
          <a:bodyPr/>
          <a:lstStyle/>
          <a:p>
            <a:endParaRPr/>
          </a:p>
        </p:txBody>
      </p:sp>
      <p:sp>
        <p:nvSpPr>
          <p:cNvPr id="628" name="r">
            <a:extLst>
              <a:ext uri="{FF2B5EF4-FFF2-40B4-BE49-F238E27FC236}">
                <a16:creationId xmlns:a16="http://schemas.microsoft.com/office/drawing/2014/main" id="{5AB9EFD9-629A-6367-852F-4B72FFB2E1AF}"/>
              </a:ext>
            </a:extLst>
          </p:cNvPr>
          <p:cNvSpPr/>
          <p:nvPr/>
        </p:nvSpPr>
        <p:spPr>
          <a:xfrm>
            <a:off x="698500" y="4495800"/>
            <a:ext cx="10795000" cy="10160"/>
          </a:xfrm>
          <a:prstGeom prst="rect">
            <a:avLst/>
          </a:prstGeom>
          <a:solidFill>
            <a:srgbClr val="E3E7EC"/>
          </a:solidFill>
          <a:ln>
            <a:noFill/>
          </a:ln>
        </p:spPr>
        <p:txBody>
          <a:bodyPr/>
          <a:lstStyle/>
          <a:p>
            <a:endParaRPr/>
          </a:p>
        </p:txBody>
      </p:sp>
      <p:sp>
        <p:nvSpPr>
          <p:cNvPr id="629" name="r">
            <a:extLst>
              <a:ext uri="{FF2B5EF4-FFF2-40B4-BE49-F238E27FC236}">
                <a16:creationId xmlns:a16="http://schemas.microsoft.com/office/drawing/2014/main" id="{FC203740-B3DF-E812-792C-F312FC1BDB23}"/>
              </a:ext>
            </a:extLst>
          </p:cNvPr>
          <p:cNvSpPr/>
          <p:nvPr/>
        </p:nvSpPr>
        <p:spPr>
          <a:xfrm>
            <a:off x="698500" y="4851400"/>
            <a:ext cx="10795000" cy="10160"/>
          </a:xfrm>
          <a:prstGeom prst="rect">
            <a:avLst/>
          </a:prstGeom>
          <a:solidFill>
            <a:srgbClr val="E3E7EC"/>
          </a:solidFill>
          <a:ln>
            <a:noFill/>
          </a:ln>
        </p:spPr>
        <p:txBody>
          <a:bodyPr/>
          <a:lstStyle/>
          <a:p>
            <a:endParaRPr/>
          </a:p>
        </p:txBody>
      </p:sp>
      <p:sp>
        <p:nvSpPr>
          <p:cNvPr id="630" name="r">
            <a:extLst>
              <a:ext uri="{FF2B5EF4-FFF2-40B4-BE49-F238E27FC236}">
                <a16:creationId xmlns:a16="http://schemas.microsoft.com/office/drawing/2014/main" id="{AB1D7DD8-BBF8-5BB2-ACD4-F18BE97CA593}"/>
              </a:ext>
            </a:extLst>
          </p:cNvPr>
          <p:cNvSpPr/>
          <p:nvPr/>
        </p:nvSpPr>
        <p:spPr>
          <a:xfrm>
            <a:off x="698500" y="5257800"/>
            <a:ext cx="10795000" cy="10160"/>
          </a:xfrm>
          <a:prstGeom prst="rect">
            <a:avLst/>
          </a:prstGeom>
          <a:solidFill>
            <a:srgbClr val="E3E7EC"/>
          </a:solidFill>
          <a:ln>
            <a:noFill/>
          </a:ln>
        </p:spPr>
        <p:txBody>
          <a:bodyPr/>
          <a:lstStyle/>
          <a:p>
            <a:endParaRPr/>
          </a:p>
        </p:txBody>
      </p:sp>
      <p:sp>
        <p:nvSpPr>
          <p:cNvPr id="631" name="r">
            <a:extLst>
              <a:ext uri="{FF2B5EF4-FFF2-40B4-BE49-F238E27FC236}">
                <a16:creationId xmlns:a16="http://schemas.microsoft.com/office/drawing/2014/main" id="{B7B17C4D-2D2B-26C3-AA3D-A8F78240BBDC}"/>
              </a:ext>
            </a:extLst>
          </p:cNvPr>
          <p:cNvSpPr/>
          <p:nvPr/>
        </p:nvSpPr>
        <p:spPr>
          <a:xfrm>
            <a:off x="698500" y="5638800"/>
            <a:ext cx="10795000" cy="10160"/>
          </a:xfrm>
          <a:prstGeom prst="rect">
            <a:avLst/>
          </a:prstGeom>
          <a:solidFill>
            <a:srgbClr val="E3E7EC"/>
          </a:solidFill>
          <a:ln>
            <a:noFill/>
          </a:ln>
        </p:spPr>
        <p:txBody>
          <a:bodyPr/>
          <a:lstStyle/>
          <a:p>
            <a:endParaRPr/>
          </a:p>
        </p:txBody>
      </p:sp>
      <p:sp>
        <p:nvSpPr>
          <p:cNvPr id="632" name="r">
            <a:extLst>
              <a:ext uri="{FF2B5EF4-FFF2-40B4-BE49-F238E27FC236}">
                <a16:creationId xmlns:a16="http://schemas.microsoft.com/office/drawing/2014/main" id="{F8A90BCC-0129-9B50-C957-E7181C32891F}"/>
              </a:ext>
            </a:extLst>
          </p:cNvPr>
          <p:cNvSpPr/>
          <p:nvPr/>
        </p:nvSpPr>
        <p:spPr>
          <a:xfrm>
            <a:off x="698500" y="6121400"/>
            <a:ext cx="10795000" cy="12700"/>
          </a:xfrm>
          <a:prstGeom prst="rect">
            <a:avLst/>
          </a:prstGeom>
          <a:solidFill>
            <a:srgbClr val="D8D2C7"/>
          </a:solidFill>
          <a:ln>
            <a:noFill/>
          </a:ln>
        </p:spPr>
        <p:txBody>
          <a:bodyPr/>
          <a:lstStyle/>
          <a:p>
            <a:endParaRPr/>
          </a:p>
        </p:txBody>
      </p:sp>
      <p:sp>
        <p:nvSpPr>
          <p:cNvPr id="634" name="r">
            <a:extLst>
              <a:ext uri="{FF2B5EF4-FFF2-40B4-BE49-F238E27FC236}">
                <a16:creationId xmlns:a16="http://schemas.microsoft.com/office/drawing/2014/main" id="{7B2D910C-4D0B-3881-4201-F9B6620A6185}"/>
              </a:ext>
            </a:extLst>
          </p:cNvPr>
          <p:cNvSpPr/>
          <p:nvPr/>
        </p:nvSpPr>
        <p:spPr>
          <a:xfrm>
            <a:off x="165100" y="6299200"/>
            <a:ext cx="10922000" cy="381000"/>
          </a:xfrm>
          <a:prstGeom prst="rect">
            <a:avLst/>
          </a:prstGeom>
          <a:solidFill>
            <a:srgbClr val="F4EEF2"/>
          </a:solidFill>
          <a:ln>
            <a:noFill/>
          </a:ln>
        </p:spPr>
        <p:txBody>
          <a:bodyPr/>
          <a:lstStyle/>
          <a:p>
            <a:endParaRPr/>
          </a:p>
        </p:txBody>
      </p:sp>
      <p:sp>
        <p:nvSpPr>
          <p:cNvPr id="635" name="r">
            <a:extLst>
              <a:ext uri="{FF2B5EF4-FFF2-40B4-BE49-F238E27FC236}">
                <a16:creationId xmlns:a16="http://schemas.microsoft.com/office/drawing/2014/main" id="{B286F195-93B2-A1A0-75B2-65728C5819D7}"/>
              </a:ext>
            </a:extLst>
          </p:cNvPr>
          <p:cNvSpPr/>
          <p:nvPr/>
        </p:nvSpPr>
        <p:spPr>
          <a:xfrm>
            <a:off x="165100" y="6299200"/>
            <a:ext cx="50800" cy="381000"/>
          </a:xfrm>
          <a:prstGeom prst="rect">
            <a:avLst/>
          </a:prstGeom>
          <a:solidFill>
            <a:srgbClr val="F0AD4E"/>
          </a:solidFill>
          <a:ln>
            <a:noFill/>
          </a:ln>
        </p:spPr>
        <p:txBody>
          <a:bodyPr/>
          <a:lstStyle/>
          <a:p>
            <a:endParaRPr/>
          </a:p>
        </p:txBody>
      </p:sp>
      <p:sp>
        <p:nvSpPr>
          <p:cNvPr id="636" name="t">
            <a:extLst>
              <a:ext uri="{FF2B5EF4-FFF2-40B4-BE49-F238E27FC236}">
                <a16:creationId xmlns:a16="http://schemas.microsoft.com/office/drawing/2014/main" id="{29665442-C71E-D765-BE91-8CE6EE900D41}"/>
              </a:ext>
            </a:extLst>
          </p:cNvPr>
          <p:cNvSpPr txBox="1"/>
          <p:nvPr/>
        </p:nvSpPr>
        <p:spPr>
          <a:xfrm>
            <a:off x="381000" y="6299200"/>
            <a:ext cx="10642600" cy="381000"/>
          </a:xfrm>
          <a:prstGeom prst="rect">
            <a:avLst/>
          </a:prstGeom>
          <a:noFill/>
        </p:spPr>
        <p:txBody>
          <a:bodyPr wrap="square" lIns="0" tIns="0" rIns="0" bIns="0" anchor="ctr">
            <a:normAutofit/>
          </a:bodyPr>
          <a:lstStyle/>
          <a:p>
            <a:pPr algn="l">
              <a:buNone/>
            </a:pPr>
            <a:r>
              <a:rPr lang="en-US" sz="850" b="1">
                <a:solidFill>
                  <a:srgbClr val="F0AD4E"/>
                </a:solidFill>
                <a:latin typeface="Arial"/>
                <a:cs typeface="Arial"/>
              </a:rPr>
              <a:t>Note:  </a:t>
            </a:r>
            <a:r>
              <a:rPr lang="en-US" sz="850" b="0" i="1">
                <a:solidFill>
                  <a:srgbClr val="1C2B29"/>
                </a:solidFill>
                <a:latin typeface="Arial"/>
                <a:cs typeface="Arial"/>
              </a:rPr>
              <a:t>Rather than representing sequential delivery, Human Feedback Learning and the AI Dashboard are foundational capabilities that support every implementation wave.</a:t>
            </a:r>
          </a:p>
        </p:txBody>
      </p:sp>
      <p:pic>
        <p:nvPicPr>
          <p:cNvPr id="2" name="Picture 1">
            <a:extLst>
              <a:ext uri="{FF2B5EF4-FFF2-40B4-BE49-F238E27FC236}">
                <a16:creationId xmlns:a16="http://schemas.microsoft.com/office/drawing/2014/main" id="{0C7A8DF0-850B-1807-7944-EC675647A906}"/>
              </a:ext>
            </a:extLst>
          </p:cNvPr>
          <p:cNvPicPr>
            <a:picLocks noChangeAspect="1"/>
          </p:cNvPicPr>
          <p:nvPr/>
        </p:nvPicPr>
        <p:blipFill>
          <a:blip r:embed="rId2"/>
          <a:stretch>
            <a:fillRect/>
          </a:stretch>
        </p:blipFill>
        <p:spPr>
          <a:xfrm>
            <a:off x="8890000" y="6451600"/>
            <a:ext cx="1139688" cy="203200"/>
          </a:xfrm>
          <a:prstGeom prst="rect">
            <a:avLst/>
          </a:prstGeom>
        </p:spPr>
      </p:pic>
      <p:pic>
        <p:nvPicPr>
          <p:cNvPr id="3" name="Picture 2">
            <a:extLst>
              <a:ext uri="{FF2B5EF4-FFF2-40B4-BE49-F238E27FC236}">
                <a16:creationId xmlns:a16="http://schemas.microsoft.com/office/drawing/2014/main" id="{2B38F425-DE99-6CE0-FC47-0A8C25E41AD6}"/>
              </a:ext>
            </a:extLst>
          </p:cNvPr>
          <p:cNvPicPr>
            <a:picLocks noChangeAspect="1"/>
          </p:cNvPicPr>
          <p:nvPr/>
        </p:nvPicPr>
        <p:blipFill>
          <a:blip r:embed="rId3"/>
          <a:stretch>
            <a:fillRect/>
          </a:stretch>
        </p:blipFill>
        <p:spPr>
          <a:xfrm>
            <a:off x="10160000" y="6451600"/>
            <a:ext cx="519953" cy="203200"/>
          </a:xfrm>
          <a:prstGeom prst="rect">
            <a:avLst/>
          </a:prstGeom>
        </p:spPr>
      </p:pic>
      <p:sp>
        <p:nvSpPr>
          <p:cNvPr id="4" name="PageNum">
            <a:extLst>
              <a:ext uri="{FF2B5EF4-FFF2-40B4-BE49-F238E27FC236}">
                <a16:creationId xmlns:a16="http://schemas.microsoft.com/office/drawing/2014/main" id="{1A20B41B-E25B-4ED6-8D8E-808AC72823F7}"/>
              </a:ext>
            </a:extLst>
          </p:cNvPr>
          <p:cNvSpPr txBox="1"/>
          <p:nvPr/>
        </p:nvSpPr>
        <p:spPr>
          <a:xfrm>
            <a:off x="11430000" y="6413500"/>
            <a:ext cx="508000" cy="254000"/>
          </a:xfrm>
          <a:prstGeom prst="rect">
            <a:avLst/>
          </a:prstGeom>
          <a:noFill/>
        </p:spPr>
        <p:txBody>
          <a:bodyPr vertOverflow="overflow" vert="horz" wrap="none" rtlCol="0" anchor="t">
            <a:noAutofit/>
          </a:bodyPr>
          <a:lstStyle/>
          <a:p>
            <a:pPr algn="l"/>
            <a:r>
              <a:rPr lang="en-AU" sz="1050">
                <a:solidFill>
                  <a:srgbClr val="8794A1"/>
                </a:solidFill>
                <a:latin typeface="Arial"/>
                <a:cs typeface="Arial"/>
              </a:rPr>
              <a:t>14</a:t>
            </a:r>
          </a:p>
        </p:txBody>
      </p:sp>
    </p:spTree>
    <p:extLst>
      <p:ext uri="{BB962C8B-B14F-4D97-AF65-F5344CB8AC3E}">
        <p14:creationId xmlns:p14="http://schemas.microsoft.com/office/powerpoint/2010/main" val="3128747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5189D-8627-33DD-3E03-1A7E2748E126}"/>
            </a:ext>
          </a:extLst>
        </p:cNvPr>
        <p:cNvGrpSpPr/>
        <p:nvPr/>
      </p:nvGrpSpPr>
      <p:grpSpPr>
        <a:xfrm>
          <a:off x="0" y="0"/>
          <a:ext cx="0" cy="0"/>
          <a:chOff x="0" y="0"/>
          <a:chExt cx="0" cy="0"/>
        </a:xfrm>
      </p:grpSpPr>
      <p:sp>
        <p:nvSpPr>
          <p:cNvPr id="101" name="S101"/>
          <p:cNvSpPr/>
          <p:nvPr/>
        </p:nvSpPr>
        <p:spPr>
          <a:xfrm>
            <a:off x="523081" y="304800"/>
            <a:ext cx="11150600" cy="228600"/>
          </a:xfrm>
          <a:prstGeom prst="rect">
            <a:avLst/>
          </a:prstGeom>
          <a:noFill/>
          <a:ln/>
        </p:spPr>
        <p:txBody>
          <a:bodyPr wrap="square" lIns="76200" tIns="38100" rIns="76200" bIns="38100" anchor="t">
            <a:noAutofit/>
          </a:bodyPr>
          <a:lstStyle/>
          <a:p>
            <a:r>
              <a:rPr lang="en-AU" sz="1050" b="1" kern="0" spc="200">
                <a:solidFill>
                  <a:srgbClr val="7226E0"/>
                </a:solidFill>
                <a:latin typeface="Arial" pitchFamily="34" charset="0"/>
                <a:cs typeface="Arial" pitchFamily="34" charset="0"/>
              </a:rPr>
              <a:t>FUTURE STATE  -  EARLY RELEASE (FINANCIAL HARDSHIP)</a:t>
            </a:r>
          </a:p>
        </p:txBody>
      </p:sp>
      <p:sp>
        <p:nvSpPr>
          <p:cNvPr id="102" name="S102"/>
          <p:cNvSpPr/>
          <p:nvPr/>
        </p:nvSpPr>
        <p:spPr>
          <a:xfrm>
            <a:off x="523081" y="533400"/>
            <a:ext cx="11150600" cy="508000"/>
          </a:xfrm>
          <a:prstGeom prst="rect">
            <a:avLst/>
          </a:prstGeom>
          <a:noFill/>
          <a:ln/>
        </p:spPr>
        <p:txBody>
          <a:bodyPr wrap="square" lIns="76200" tIns="38100" rIns="76200" bIns="38100" anchor="t">
            <a:noAutofit/>
          </a:bodyPr>
          <a:lstStyle/>
          <a:p>
            <a:pPr>
              <a:lnSpc>
                <a:spcPct val="96000"/>
              </a:lnSpc>
            </a:pPr>
            <a:r>
              <a:rPr lang="en-AU" sz="1750" b="1" kern="0">
                <a:solidFill>
                  <a:srgbClr val="1B2A41"/>
                </a:solidFill>
                <a:latin typeface="Arial" pitchFamily="34" charset="0"/>
                <a:cs typeface="Arial" pitchFamily="34" charset="0"/>
              </a:rPr>
              <a:t>Future-State Financial Hardship Journey: A coordinated AI-assisted process with human oversight for regulated decisions</a:t>
            </a:r>
          </a:p>
        </p:txBody>
      </p:sp>
      <p:sp>
        <p:nvSpPr>
          <p:cNvPr id="103" name="S103"/>
          <p:cNvSpPr/>
          <p:nvPr/>
        </p:nvSpPr>
        <p:spPr>
          <a:xfrm>
            <a:off x="523081" y="1092200"/>
            <a:ext cx="11150600" cy="279400"/>
          </a:xfrm>
          <a:prstGeom prst="rect">
            <a:avLst/>
          </a:prstGeom>
          <a:noFill/>
          <a:ln/>
        </p:spPr>
        <p:txBody>
          <a:bodyPr wrap="square" lIns="76200" tIns="38100" rIns="76200" bIns="38100" anchor="t">
            <a:noAutofit/>
          </a:bodyPr>
          <a:lstStyle/>
          <a:p>
            <a:r>
              <a:rPr lang="en-AU" sz="1050" i="1" kern="0">
                <a:solidFill>
                  <a:srgbClr val="5C6B7A"/>
                </a:solidFill>
                <a:latin typeface="Arial" pitchFamily="34" charset="0"/>
                <a:cs typeface="Arial" pitchFamily="34" charset="0"/>
              </a:rPr>
              <a:t>AI agents work together across the inbound email lifecycle to understand requests, validate evidence, support decisions and reduce unnecessary member interactions. Human specialists remain responsible for regulated assessments and approval decisions.</a:t>
            </a:r>
          </a:p>
        </p:txBody>
      </p:sp>
      <p:sp>
        <p:nvSpPr>
          <p:cNvPr id="104" name="S104"/>
          <p:cNvSpPr/>
          <p:nvPr/>
        </p:nvSpPr>
        <p:spPr>
          <a:xfrm>
            <a:off x="523081" y="3015378"/>
            <a:ext cx="11164889" cy="1688883"/>
          </a:xfrm>
          <a:prstGeom prst="rect">
            <a:avLst/>
          </a:prstGeom>
          <a:solidFill>
            <a:srgbClr val="7226E0">
              <a:alpha val="7000"/>
            </a:srgbClr>
          </a:solidFill>
          <a:ln/>
        </p:spPr>
        <p:txBody>
          <a:bodyPr wrap="square" lIns="76200" tIns="38100" rIns="76200" bIns="38100" anchor="t">
            <a:noAutofit/>
          </a:bodyPr>
          <a:lstStyle/>
          <a:p>
            <a:endParaRPr lang="en-AU"/>
          </a:p>
        </p:txBody>
      </p:sp>
      <p:sp>
        <p:nvSpPr>
          <p:cNvPr id="105" name="S105"/>
          <p:cNvSpPr/>
          <p:nvPr/>
        </p:nvSpPr>
        <p:spPr>
          <a:xfrm>
            <a:off x="523081" y="1600200"/>
            <a:ext cx="1320800" cy="279400"/>
          </a:xfrm>
          <a:prstGeom prst="rect">
            <a:avLst/>
          </a:prstGeom>
          <a:noFill/>
          <a:ln/>
        </p:spPr>
        <p:txBody>
          <a:bodyPr wrap="square" lIns="76200" tIns="38100" rIns="76200" bIns="38100" anchor="t">
            <a:noAutofit/>
          </a:bodyPr>
          <a:lstStyle/>
          <a:p>
            <a:r>
              <a:rPr lang="en-AU" sz="900" b="1" kern="0" spc="100">
                <a:solidFill>
                  <a:srgbClr val="F0AD4E"/>
                </a:solidFill>
                <a:latin typeface="Arial" pitchFamily="34" charset="0"/>
                <a:cs typeface="Arial" pitchFamily="34" charset="0"/>
              </a:rPr>
              <a:t>MEMBER EXPERIENCE</a:t>
            </a:r>
          </a:p>
        </p:txBody>
      </p:sp>
      <p:sp>
        <p:nvSpPr>
          <p:cNvPr id="106" name="S106"/>
          <p:cNvSpPr/>
          <p:nvPr/>
        </p:nvSpPr>
        <p:spPr>
          <a:xfrm>
            <a:off x="571682" y="3340185"/>
            <a:ext cx="1498600" cy="431800"/>
          </a:xfrm>
          <a:prstGeom prst="rect">
            <a:avLst/>
          </a:prstGeom>
          <a:noFill/>
          <a:ln/>
        </p:spPr>
        <p:txBody>
          <a:bodyPr wrap="square" lIns="76200" tIns="38100" rIns="76200" bIns="38100" anchor="t">
            <a:noAutofit/>
          </a:bodyPr>
          <a:lstStyle/>
          <a:p>
            <a:pPr>
              <a:lnSpc>
                <a:spcPct val="94000"/>
              </a:lnSpc>
            </a:pPr>
            <a:r>
              <a:rPr lang="en-AU" sz="900" b="1" kern="0" spc="80">
                <a:solidFill>
                  <a:srgbClr val="7226E0"/>
                </a:solidFill>
                <a:latin typeface="Arial" pitchFamily="34" charset="0"/>
                <a:cs typeface="Arial" pitchFamily="34" charset="0"/>
              </a:rPr>
              <a:t>AGENTIC</a:t>
            </a:r>
          </a:p>
          <a:p>
            <a:pPr>
              <a:lnSpc>
                <a:spcPct val="94000"/>
              </a:lnSpc>
            </a:pPr>
            <a:r>
              <a:rPr lang="en-AU" sz="900" b="1" kern="0" spc="80">
                <a:solidFill>
                  <a:srgbClr val="7226E0"/>
                </a:solidFill>
                <a:latin typeface="Arial" pitchFamily="34" charset="0"/>
                <a:cs typeface="Arial" pitchFamily="34" charset="0"/>
              </a:rPr>
              <a:t>OPERATIONS</a:t>
            </a:r>
          </a:p>
          <a:p>
            <a:pPr>
              <a:spcBef>
                <a:spcPts val="200"/>
              </a:spcBef>
            </a:pPr>
            <a:r>
              <a:rPr lang="en-AU" sz="700" i="1" kern="0">
                <a:solidFill>
                  <a:srgbClr val="5C6B7A"/>
                </a:solidFill>
                <a:latin typeface="Arial" pitchFamily="34" charset="0"/>
                <a:cs typeface="Arial" pitchFamily="34" charset="0"/>
              </a:rPr>
              <a:t>end-to-end, AI-assisted</a:t>
            </a:r>
          </a:p>
        </p:txBody>
      </p:sp>
      <p:sp>
        <p:nvSpPr>
          <p:cNvPr id="107" name="S107"/>
          <p:cNvSpPr/>
          <p:nvPr/>
        </p:nvSpPr>
        <p:spPr>
          <a:xfrm>
            <a:off x="5984081" y="1397000"/>
            <a:ext cx="114300" cy="114300"/>
          </a:xfrm>
          <a:prstGeom prst="ellipse">
            <a:avLst/>
          </a:prstGeom>
          <a:solidFill>
            <a:srgbClr val="7226E0"/>
          </a:solidFill>
          <a:ln>
            <a:noFill/>
          </a:ln>
        </p:spPr>
        <p:txBody>
          <a:bodyPr wrap="square" lIns="76200" tIns="38100" rIns="76200" bIns="38100" anchor="t">
            <a:noAutofit/>
          </a:bodyPr>
          <a:lstStyle/>
          <a:p>
            <a:endParaRPr lang="en-AU"/>
          </a:p>
        </p:txBody>
      </p:sp>
      <p:sp>
        <p:nvSpPr>
          <p:cNvPr id="108" name="S108"/>
          <p:cNvSpPr/>
          <p:nvPr/>
        </p:nvSpPr>
        <p:spPr>
          <a:xfrm>
            <a:off x="6136481" y="1358900"/>
            <a:ext cx="1524000" cy="177800"/>
          </a:xfrm>
          <a:prstGeom prst="rect">
            <a:avLst/>
          </a:prstGeom>
          <a:noFill/>
          <a:ln/>
        </p:spPr>
        <p:txBody>
          <a:bodyPr wrap="none" lIns="0" tIns="0" rIns="0" bIns="0" anchor="ctr">
            <a:noAutofit/>
          </a:bodyPr>
          <a:lstStyle/>
          <a:p>
            <a:r>
              <a:rPr lang="en-AU" sz="800" kern="0">
                <a:solidFill>
                  <a:srgbClr val="3A4A5E"/>
                </a:solidFill>
                <a:latin typeface="Arial" pitchFamily="34" charset="0"/>
                <a:cs typeface="Arial" pitchFamily="34" charset="0"/>
              </a:rPr>
              <a:t>Primary Early Release journey</a:t>
            </a:r>
          </a:p>
        </p:txBody>
      </p:sp>
      <p:sp>
        <p:nvSpPr>
          <p:cNvPr id="109" name="S109"/>
          <p:cNvSpPr/>
          <p:nvPr/>
        </p:nvSpPr>
        <p:spPr>
          <a:xfrm>
            <a:off x="7635081" y="1397000"/>
            <a:ext cx="114300" cy="114300"/>
          </a:xfrm>
          <a:prstGeom prst="ellipse">
            <a:avLst/>
          </a:prstGeom>
          <a:solidFill>
            <a:srgbClr val="E0A93B"/>
          </a:solidFill>
          <a:ln>
            <a:noFill/>
          </a:ln>
        </p:spPr>
        <p:txBody>
          <a:bodyPr wrap="square" lIns="76200" tIns="38100" rIns="76200" bIns="38100" anchor="t">
            <a:noAutofit/>
          </a:bodyPr>
          <a:lstStyle/>
          <a:p>
            <a:endParaRPr lang="en-AU"/>
          </a:p>
        </p:txBody>
      </p:sp>
      <p:sp>
        <p:nvSpPr>
          <p:cNvPr id="110" name="S110"/>
          <p:cNvSpPr/>
          <p:nvPr/>
        </p:nvSpPr>
        <p:spPr>
          <a:xfrm>
            <a:off x="7787481" y="1358900"/>
            <a:ext cx="1905000" cy="177800"/>
          </a:xfrm>
          <a:prstGeom prst="rect">
            <a:avLst/>
          </a:prstGeom>
          <a:noFill/>
          <a:ln/>
        </p:spPr>
        <p:txBody>
          <a:bodyPr wrap="none" lIns="0" tIns="0" rIns="0" bIns="0" anchor="ctr">
            <a:noAutofit/>
          </a:bodyPr>
          <a:lstStyle/>
          <a:p>
            <a:r>
              <a:rPr lang="en-AU" sz="750" kern="0">
                <a:solidFill>
                  <a:srgbClr val="5C6B7A"/>
                </a:solidFill>
                <a:latin typeface="Arial" pitchFamily="34" charset="0"/>
                <a:cs typeface="Arial" pitchFamily="34" charset="0"/>
              </a:rPr>
              <a:t>Parallel member enquiries</a:t>
            </a:r>
          </a:p>
        </p:txBody>
      </p:sp>
      <p:cxnSp>
        <p:nvCxnSpPr>
          <p:cNvPr id="111" name="L111"/>
          <p:cNvCxnSpPr/>
          <p:nvPr/>
        </p:nvCxnSpPr>
        <p:spPr>
          <a:xfrm>
            <a:off x="2624931" y="1765300"/>
            <a:ext cx="7245350" cy="0"/>
          </a:xfrm>
          <a:prstGeom prst="line">
            <a:avLst/>
          </a:prstGeom>
          <a:noFill/>
          <a:ln w="9525">
            <a:solidFill>
              <a:srgbClr val="D5DBE0"/>
            </a:solidFill>
            <a:prstDash val="solid"/>
            <a:tailEnd type="triangle" w="med" len="med"/>
          </a:ln>
        </p:spPr>
      </p:cxnSp>
      <p:sp>
        <p:nvSpPr>
          <p:cNvPr id="112" name="S112"/>
          <p:cNvSpPr/>
          <p:nvPr/>
        </p:nvSpPr>
        <p:spPr>
          <a:xfrm>
            <a:off x="2459831" y="1600200"/>
            <a:ext cx="330200" cy="330200"/>
          </a:xfrm>
          <a:prstGeom prst="ellipse">
            <a:avLst/>
          </a:prstGeom>
          <a:solidFill>
            <a:srgbClr val="7226E0"/>
          </a:solidFill>
          <a:ln>
            <a:noFill/>
          </a:ln>
        </p:spPr>
        <p:txBody>
          <a:bodyPr wrap="none" lIns="0" tIns="0" rIns="0" bIns="0" anchor="ctr">
            <a:noAutofit/>
          </a:bodyPr>
          <a:lstStyle/>
          <a:p>
            <a:pPr algn="ctr"/>
            <a:r>
              <a:rPr lang="en-AU" sz="1100" b="1" kern="0">
                <a:solidFill>
                  <a:srgbClr val="FFFFFF"/>
                </a:solidFill>
                <a:latin typeface="Arial" pitchFamily="34" charset="0"/>
                <a:cs typeface="Arial" pitchFamily="34" charset="0"/>
              </a:rPr>
              <a:t>1</a:t>
            </a:r>
          </a:p>
        </p:txBody>
      </p:sp>
      <p:sp>
        <p:nvSpPr>
          <p:cNvPr id="113" name="S113"/>
          <p:cNvSpPr/>
          <p:nvPr/>
        </p:nvSpPr>
        <p:spPr>
          <a:xfrm>
            <a:off x="2059781" y="1955800"/>
            <a:ext cx="1130300" cy="330200"/>
          </a:xfrm>
          <a:prstGeom prst="rect">
            <a:avLst/>
          </a:prstGeom>
          <a:noFill/>
          <a:ln/>
        </p:spPr>
        <p:txBody>
          <a:bodyPr wrap="square" lIns="25400" tIns="38100" rIns="25400" bIns="38100" anchor="t">
            <a:noAutofit/>
          </a:bodyPr>
          <a:lstStyle/>
          <a:p>
            <a:pPr algn="ctr">
              <a:lnSpc>
                <a:spcPct val="96000"/>
              </a:lnSpc>
            </a:pPr>
            <a:r>
              <a:rPr lang="en-AU" sz="750" b="1" kern="0">
                <a:solidFill>
                  <a:srgbClr val="3A4A5E"/>
                </a:solidFill>
                <a:latin typeface="Arial" pitchFamily="34" charset="0"/>
                <a:cs typeface="Arial" pitchFamily="34" charset="0"/>
              </a:rPr>
              <a:t>Needs financial assistance</a:t>
            </a:r>
          </a:p>
        </p:txBody>
      </p:sp>
      <p:sp>
        <p:nvSpPr>
          <p:cNvPr id="114" name="S114"/>
          <p:cNvSpPr/>
          <p:nvPr/>
        </p:nvSpPr>
        <p:spPr>
          <a:xfrm>
            <a:off x="3666331" y="1600200"/>
            <a:ext cx="330200" cy="330200"/>
          </a:xfrm>
          <a:prstGeom prst="ellipse">
            <a:avLst/>
          </a:prstGeom>
          <a:solidFill>
            <a:srgbClr val="7226E0"/>
          </a:solidFill>
          <a:ln>
            <a:noFill/>
          </a:ln>
        </p:spPr>
        <p:txBody>
          <a:bodyPr wrap="none" lIns="0" tIns="0" rIns="0" bIns="0" anchor="ctr">
            <a:noAutofit/>
          </a:bodyPr>
          <a:lstStyle/>
          <a:p>
            <a:pPr algn="ctr"/>
            <a:r>
              <a:rPr lang="en-AU" sz="1100" b="1" kern="0">
                <a:solidFill>
                  <a:srgbClr val="FFFFFF"/>
                </a:solidFill>
                <a:latin typeface="Arial" pitchFamily="34" charset="0"/>
                <a:cs typeface="Arial" pitchFamily="34" charset="0"/>
              </a:rPr>
              <a:t>2</a:t>
            </a:r>
          </a:p>
        </p:txBody>
      </p:sp>
      <p:sp>
        <p:nvSpPr>
          <p:cNvPr id="115" name="S115"/>
          <p:cNvSpPr/>
          <p:nvPr/>
        </p:nvSpPr>
        <p:spPr>
          <a:xfrm>
            <a:off x="3266281" y="1955800"/>
            <a:ext cx="1130300" cy="330200"/>
          </a:xfrm>
          <a:prstGeom prst="rect">
            <a:avLst/>
          </a:prstGeom>
          <a:noFill/>
          <a:ln/>
        </p:spPr>
        <p:txBody>
          <a:bodyPr wrap="square" lIns="25400" tIns="38100" rIns="25400" bIns="38100" anchor="t">
            <a:noAutofit/>
          </a:bodyPr>
          <a:lstStyle/>
          <a:p>
            <a:pPr algn="ctr">
              <a:lnSpc>
                <a:spcPct val="96000"/>
              </a:lnSpc>
            </a:pPr>
            <a:r>
              <a:rPr lang="en-AU" sz="750" b="1" kern="0">
                <a:solidFill>
                  <a:srgbClr val="3A4A5E"/>
                </a:solidFill>
                <a:latin typeface="Arial" pitchFamily="34" charset="0"/>
                <a:cs typeface="Arial" pitchFamily="34" charset="0"/>
              </a:rPr>
              <a:t>Seeks information</a:t>
            </a:r>
          </a:p>
        </p:txBody>
      </p:sp>
      <p:sp>
        <p:nvSpPr>
          <p:cNvPr id="116" name="S116"/>
          <p:cNvSpPr/>
          <p:nvPr/>
        </p:nvSpPr>
        <p:spPr>
          <a:xfrm>
            <a:off x="4872831" y="1600200"/>
            <a:ext cx="330200" cy="330200"/>
          </a:xfrm>
          <a:prstGeom prst="ellipse">
            <a:avLst/>
          </a:prstGeom>
          <a:solidFill>
            <a:srgbClr val="7226E0"/>
          </a:solidFill>
          <a:ln>
            <a:noFill/>
          </a:ln>
        </p:spPr>
        <p:txBody>
          <a:bodyPr wrap="none" lIns="0" tIns="0" rIns="0" bIns="0" anchor="ctr">
            <a:noAutofit/>
          </a:bodyPr>
          <a:lstStyle/>
          <a:p>
            <a:pPr algn="ctr"/>
            <a:r>
              <a:rPr lang="en-AU" sz="1100" b="1" kern="0">
                <a:solidFill>
                  <a:srgbClr val="FFFFFF"/>
                </a:solidFill>
                <a:latin typeface="Arial" pitchFamily="34" charset="0"/>
                <a:cs typeface="Arial" pitchFamily="34" charset="0"/>
              </a:rPr>
              <a:t>3</a:t>
            </a:r>
          </a:p>
        </p:txBody>
      </p:sp>
      <p:sp>
        <p:nvSpPr>
          <p:cNvPr id="117" name="S117"/>
          <p:cNvSpPr/>
          <p:nvPr/>
        </p:nvSpPr>
        <p:spPr>
          <a:xfrm>
            <a:off x="4472781" y="1955800"/>
            <a:ext cx="1130300" cy="330200"/>
          </a:xfrm>
          <a:prstGeom prst="rect">
            <a:avLst/>
          </a:prstGeom>
          <a:noFill/>
          <a:ln/>
        </p:spPr>
        <p:txBody>
          <a:bodyPr wrap="square" lIns="25400" tIns="38100" rIns="25400" bIns="38100" anchor="t">
            <a:noAutofit/>
          </a:bodyPr>
          <a:lstStyle/>
          <a:p>
            <a:pPr algn="ctr">
              <a:lnSpc>
                <a:spcPct val="96000"/>
              </a:lnSpc>
            </a:pPr>
            <a:r>
              <a:rPr lang="en-AU" sz="750" b="1" kern="0">
                <a:solidFill>
                  <a:srgbClr val="3A4A5E"/>
                </a:solidFill>
                <a:latin typeface="Arial" pitchFamily="34" charset="0"/>
                <a:cs typeface="Arial" pitchFamily="34" charset="0"/>
              </a:rPr>
              <a:t>Submits enquiry / documentation</a:t>
            </a:r>
          </a:p>
        </p:txBody>
      </p:sp>
      <p:sp>
        <p:nvSpPr>
          <p:cNvPr id="118" name="S118"/>
          <p:cNvSpPr/>
          <p:nvPr/>
        </p:nvSpPr>
        <p:spPr>
          <a:xfrm>
            <a:off x="6079331" y="1600200"/>
            <a:ext cx="330200" cy="330200"/>
          </a:xfrm>
          <a:prstGeom prst="ellipse">
            <a:avLst/>
          </a:prstGeom>
          <a:solidFill>
            <a:srgbClr val="7226E0"/>
          </a:solidFill>
          <a:ln>
            <a:noFill/>
          </a:ln>
        </p:spPr>
        <p:txBody>
          <a:bodyPr wrap="none" lIns="0" tIns="0" rIns="0" bIns="0" anchor="ctr">
            <a:noAutofit/>
          </a:bodyPr>
          <a:lstStyle/>
          <a:p>
            <a:pPr algn="ctr"/>
            <a:r>
              <a:rPr lang="en-AU" sz="1100" b="1" kern="0">
                <a:solidFill>
                  <a:srgbClr val="FFFFFF"/>
                </a:solidFill>
                <a:latin typeface="Arial" pitchFamily="34" charset="0"/>
                <a:cs typeface="Arial" pitchFamily="34" charset="0"/>
              </a:rPr>
              <a:t>4</a:t>
            </a:r>
          </a:p>
        </p:txBody>
      </p:sp>
      <p:sp>
        <p:nvSpPr>
          <p:cNvPr id="119" name="S119"/>
          <p:cNvSpPr/>
          <p:nvPr/>
        </p:nvSpPr>
        <p:spPr>
          <a:xfrm>
            <a:off x="5679281" y="1955800"/>
            <a:ext cx="1130300" cy="330200"/>
          </a:xfrm>
          <a:prstGeom prst="rect">
            <a:avLst/>
          </a:prstGeom>
          <a:noFill/>
          <a:ln/>
        </p:spPr>
        <p:txBody>
          <a:bodyPr wrap="square" lIns="25400" tIns="38100" rIns="25400" bIns="38100" anchor="t">
            <a:noAutofit/>
          </a:bodyPr>
          <a:lstStyle/>
          <a:p>
            <a:pPr algn="ctr">
              <a:lnSpc>
                <a:spcPct val="96000"/>
              </a:lnSpc>
            </a:pPr>
            <a:r>
              <a:rPr lang="en-AU" sz="750" b="1" kern="0">
                <a:solidFill>
                  <a:srgbClr val="3A4A5E"/>
                </a:solidFill>
                <a:latin typeface="Arial" pitchFamily="34" charset="0"/>
                <a:cs typeface="Arial" pitchFamily="34" charset="0"/>
              </a:rPr>
              <a:t>Receives acknowledgement</a:t>
            </a:r>
          </a:p>
        </p:txBody>
      </p:sp>
      <p:sp>
        <p:nvSpPr>
          <p:cNvPr id="120" name="S120"/>
          <p:cNvSpPr/>
          <p:nvPr/>
        </p:nvSpPr>
        <p:spPr>
          <a:xfrm>
            <a:off x="7285831" y="1600200"/>
            <a:ext cx="330200" cy="330200"/>
          </a:xfrm>
          <a:prstGeom prst="ellipse">
            <a:avLst/>
          </a:prstGeom>
          <a:solidFill>
            <a:srgbClr val="7226E0"/>
          </a:solidFill>
          <a:ln>
            <a:noFill/>
          </a:ln>
        </p:spPr>
        <p:txBody>
          <a:bodyPr wrap="none" lIns="0" tIns="0" rIns="0" bIns="0" anchor="ctr">
            <a:noAutofit/>
          </a:bodyPr>
          <a:lstStyle/>
          <a:p>
            <a:pPr algn="ctr"/>
            <a:r>
              <a:rPr lang="en-AU" sz="1100" b="1" kern="0">
                <a:solidFill>
                  <a:srgbClr val="FFFFFF"/>
                </a:solidFill>
                <a:latin typeface="Arial" pitchFamily="34" charset="0"/>
                <a:cs typeface="Arial" pitchFamily="34" charset="0"/>
              </a:rPr>
              <a:t>5</a:t>
            </a:r>
          </a:p>
        </p:txBody>
      </p:sp>
      <p:sp>
        <p:nvSpPr>
          <p:cNvPr id="121" name="S121"/>
          <p:cNvSpPr/>
          <p:nvPr/>
        </p:nvSpPr>
        <p:spPr>
          <a:xfrm>
            <a:off x="6885781" y="1955800"/>
            <a:ext cx="1130300" cy="330200"/>
          </a:xfrm>
          <a:prstGeom prst="rect">
            <a:avLst/>
          </a:prstGeom>
          <a:noFill/>
          <a:ln/>
        </p:spPr>
        <p:txBody>
          <a:bodyPr wrap="square" lIns="25400" tIns="38100" rIns="25400" bIns="38100" anchor="t">
            <a:noAutofit/>
          </a:bodyPr>
          <a:lstStyle/>
          <a:p>
            <a:pPr algn="ctr">
              <a:lnSpc>
                <a:spcPct val="96000"/>
              </a:lnSpc>
            </a:pPr>
            <a:r>
              <a:rPr lang="en-AU" sz="750" b="1" kern="0">
                <a:solidFill>
                  <a:srgbClr val="3A4A5E"/>
                </a:solidFill>
                <a:latin typeface="Arial" pitchFamily="34" charset="0"/>
                <a:cs typeface="Arial" pitchFamily="34" charset="0"/>
              </a:rPr>
              <a:t>Receives updates during assessment</a:t>
            </a:r>
          </a:p>
        </p:txBody>
      </p:sp>
      <p:sp>
        <p:nvSpPr>
          <p:cNvPr id="122" name="S122"/>
          <p:cNvSpPr/>
          <p:nvPr/>
        </p:nvSpPr>
        <p:spPr>
          <a:xfrm>
            <a:off x="8492331" y="1600200"/>
            <a:ext cx="330200" cy="330200"/>
          </a:xfrm>
          <a:prstGeom prst="ellipse">
            <a:avLst/>
          </a:prstGeom>
          <a:solidFill>
            <a:srgbClr val="7226E0"/>
          </a:solidFill>
          <a:ln>
            <a:noFill/>
          </a:ln>
        </p:spPr>
        <p:txBody>
          <a:bodyPr wrap="none" lIns="0" tIns="0" rIns="0" bIns="0" anchor="ctr">
            <a:noAutofit/>
          </a:bodyPr>
          <a:lstStyle/>
          <a:p>
            <a:pPr algn="ctr"/>
            <a:r>
              <a:rPr lang="en-AU" sz="1100" b="1" kern="0">
                <a:solidFill>
                  <a:srgbClr val="FFFFFF"/>
                </a:solidFill>
                <a:latin typeface="Arial" pitchFamily="34" charset="0"/>
                <a:cs typeface="Arial" pitchFamily="34" charset="0"/>
              </a:rPr>
              <a:t>6</a:t>
            </a:r>
          </a:p>
        </p:txBody>
      </p:sp>
      <p:sp>
        <p:nvSpPr>
          <p:cNvPr id="123" name="S123"/>
          <p:cNvSpPr/>
          <p:nvPr/>
        </p:nvSpPr>
        <p:spPr>
          <a:xfrm>
            <a:off x="8092281" y="1955800"/>
            <a:ext cx="1130300" cy="330200"/>
          </a:xfrm>
          <a:prstGeom prst="rect">
            <a:avLst/>
          </a:prstGeom>
          <a:noFill/>
          <a:ln/>
        </p:spPr>
        <p:txBody>
          <a:bodyPr wrap="square" lIns="25400" tIns="38100" rIns="25400" bIns="38100" anchor="t">
            <a:noAutofit/>
          </a:bodyPr>
          <a:lstStyle/>
          <a:p>
            <a:pPr algn="ctr">
              <a:lnSpc>
                <a:spcPct val="96000"/>
              </a:lnSpc>
            </a:pPr>
            <a:r>
              <a:rPr lang="en-AU" sz="750" b="1" kern="0">
                <a:solidFill>
                  <a:srgbClr val="3A4A5E"/>
                </a:solidFill>
                <a:latin typeface="Arial" pitchFamily="34" charset="0"/>
                <a:cs typeface="Arial" pitchFamily="34" charset="0"/>
              </a:rPr>
              <a:t>Receives decision</a:t>
            </a:r>
          </a:p>
        </p:txBody>
      </p:sp>
      <p:sp>
        <p:nvSpPr>
          <p:cNvPr id="124" name="S124"/>
          <p:cNvSpPr/>
          <p:nvPr/>
        </p:nvSpPr>
        <p:spPr>
          <a:xfrm>
            <a:off x="9698831" y="1600200"/>
            <a:ext cx="330200" cy="330200"/>
          </a:xfrm>
          <a:prstGeom prst="ellipse">
            <a:avLst/>
          </a:prstGeom>
          <a:solidFill>
            <a:srgbClr val="7226E0"/>
          </a:solidFill>
          <a:ln>
            <a:noFill/>
          </a:ln>
        </p:spPr>
        <p:txBody>
          <a:bodyPr wrap="none" lIns="0" tIns="0" rIns="0" bIns="0" anchor="ctr">
            <a:noAutofit/>
          </a:bodyPr>
          <a:lstStyle/>
          <a:p>
            <a:pPr algn="ctr"/>
            <a:r>
              <a:rPr lang="en-AU" sz="1100" b="1" kern="0">
                <a:solidFill>
                  <a:srgbClr val="FFFFFF"/>
                </a:solidFill>
                <a:latin typeface="Arial" pitchFamily="34" charset="0"/>
                <a:cs typeface="Arial" pitchFamily="34" charset="0"/>
              </a:rPr>
              <a:t>7</a:t>
            </a:r>
          </a:p>
        </p:txBody>
      </p:sp>
      <p:sp>
        <p:nvSpPr>
          <p:cNvPr id="125" name="S125"/>
          <p:cNvSpPr/>
          <p:nvPr/>
        </p:nvSpPr>
        <p:spPr>
          <a:xfrm>
            <a:off x="9298781" y="1955800"/>
            <a:ext cx="1130300" cy="330200"/>
          </a:xfrm>
          <a:prstGeom prst="rect">
            <a:avLst/>
          </a:prstGeom>
          <a:noFill/>
          <a:ln/>
        </p:spPr>
        <p:txBody>
          <a:bodyPr wrap="square" lIns="25400" tIns="38100" rIns="25400" bIns="38100" anchor="t">
            <a:noAutofit/>
          </a:bodyPr>
          <a:lstStyle/>
          <a:p>
            <a:pPr algn="ctr">
              <a:lnSpc>
                <a:spcPct val="96000"/>
              </a:lnSpc>
            </a:pPr>
            <a:r>
              <a:rPr lang="en-AU" sz="750" b="1" kern="0">
                <a:solidFill>
                  <a:srgbClr val="3A4A5E"/>
                </a:solidFill>
                <a:latin typeface="Arial" pitchFamily="34" charset="0"/>
                <a:cs typeface="Arial" pitchFamily="34" charset="0"/>
              </a:rPr>
              <a:t>Case completed</a:t>
            </a:r>
          </a:p>
        </p:txBody>
      </p:sp>
      <p:sp>
        <p:nvSpPr>
          <p:cNvPr id="144" name="S144"/>
          <p:cNvSpPr/>
          <p:nvPr/>
        </p:nvSpPr>
        <p:spPr>
          <a:xfrm>
            <a:off x="523081" y="2336800"/>
            <a:ext cx="1397000" cy="330200"/>
          </a:xfrm>
          <a:prstGeom prst="rect">
            <a:avLst/>
          </a:prstGeom>
          <a:noFill/>
          <a:ln/>
        </p:spPr>
        <p:txBody>
          <a:bodyPr wrap="square" lIns="76200" tIns="38100" rIns="76200" bIns="38100" anchor="t">
            <a:noAutofit/>
          </a:bodyPr>
          <a:lstStyle/>
          <a:p>
            <a:pPr>
              <a:lnSpc>
                <a:spcPct val="96000"/>
              </a:lnSpc>
            </a:pPr>
            <a:r>
              <a:rPr lang="en-AU" sz="800" b="1" kern="0" spc="80">
                <a:solidFill>
                  <a:srgbClr val="E0A93B"/>
                </a:solidFill>
                <a:latin typeface="Arial" pitchFamily="34" charset="0"/>
                <a:cs typeface="Arial" pitchFamily="34" charset="0"/>
              </a:rPr>
              <a:t>PARALLEL ENQUIRIES</a:t>
            </a:r>
          </a:p>
          <a:p>
            <a:pPr>
              <a:spcBef>
                <a:spcPts val="200"/>
              </a:spcBef>
            </a:pPr>
            <a:r>
              <a:rPr lang="en-AU" sz="750" i="1" kern="0">
                <a:solidFill>
                  <a:srgbClr val="5C6B7A"/>
                </a:solidFill>
                <a:latin typeface="Arial" pitchFamily="34" charset="0"/>
                <a:cs typeface="Arial" pitchFamily="34" charset="0"/>
              </a:rPr>
              <a:t>fewer, proactive interactions</a:t>
            </a:r>
          </a:p>
        </p:txBody>
      </p:sp>
      <p:cxnSp>
        <p:nvCxnSpPr>
          <p:cNvPr id="146" name="L146"/>
          <p:cNvCxnSpPr/>
          <p:nvPr/>
        </p:nvCxnSpPr>
        <p:spPr>
          <a:xfrm>
            <a:off x="2974181" y="2413000"/>
            <a:ext cx="0" cy="76200"/>
          </a:xfrm>
          <a:prstGeom prst="line">
            <a:avLst/>
          </a:prstGeom>
          <a:noFill/>
          <a:ln w="6350">
            <a:solidFill>
              <a:srgbClr val="E0A93B"/>
            </a:solidFill>
            <a:prstDash val="dash"/>
            <a:tailEnd type="triangle" w="med" len="med"/>
          </a:ln>
        </p:spPr>
      </p:cxnSp>
      <p:cxnSp>
        <p:nvCxnSpPr>
          <p:cNvPr id="147" name="L147"/>
          <p:cNvCxnSpPr/>
          <p:nvPr/>
        </p:nvCxnSpPr>
        <p:spPr>
          <a:xfrm>
            <a:off x="4980781" y="2413000"/>
            <a:ext cx="0" cy="76200"/>
          </a:xfrm>
          <a:prstGeom prst="line">
            <a:avLst/>
          </a:prstGeom>
          <a:noFill/>
          <a:ln w="6350">
            <a:solidFill>
              <a:srgbClr val="E0A93B"/>
            </a:solidFill>
            <a:prstDash val="dash"/>
            <a:tailEnd type="triangle" w="med" len="med"/>
          </a:ln>
        </p:spPr>
      </p:cxnSp>
      <p:cxnSp>
        <p:nvCxnSpPr>
          <p:cNvPr id="148" name="L148"/>
          <p:cNvCxnSpPr/>
          <p:nvPr/>
        </p:nvCxnSpPr>
        <p:spPr>
          <a:xfrm>
            <a:off x="6987381" y="2413000"/>
            <a:ext cx="0" cy="76200"/>
          </a:xfrm>
          <a:prstGeom prst="line">
            <a:avLst/>
          </a:prstGeom>
          <a:noFill/>
          <a:ln w="6350">
            <a:solidFill>
              <a:srgbClr val="E0A93B"/>
            </a:solidFill>
            <a:prstDash val="dash"/>
            <a:tailEnd type="triangle" w="med" len="med"/>
          </a:ln>
        </p:spPr>
      </p:cxnSp>
      <p:sp>
        <p:nvSpPr>
          <p:cNvPr id="150" name="S150"/>
          <p:cNvSpPr/>
          <p:nvPr/>
        </p:nvSpPr>
        <p:spPr>
          <a:xfrm>
            <a:off x="2021681" y="2489200"/>
            <a:ext cx="1905000" cy="381000"/>
          </a:xfrm>
          <a:prstGeom prst="roundRect">
            <a:avLst>
              <a:gd name="adj" fmla="val 14000"/>
            </a:avLst>
          </a:prstGeom>
          <a:solidFill>
            <a:srgbClr val="E0A93B">
              <a:alpha val="12000"/>
            </a:srgbClr>
          </a:solidFill>
          <a:ln w="6350">
            <a:solidFill>
              <a:srgbClr val="E0A93B"/>
            </a:solidFill>
            <a:prstDash val="solid"/>
          </a:ln>
        </p:spPr>
        <p:txBody>
          <a:bodyPr wrap="square" lIns="101600" tIns="25400" rIns="101600" bIns="25400" anchor="ctr">
            <a:noAutofit/>
          </a:bodyPr>
          <a:lstStyle/>
          <a:p>
            <a:pPr algn="ctr">
              <a:lnSpc>
                <a:spcPct val="96000"/>
              </a:lnSpc>
            </a:pPr>
            <a:r>
              <a:rPr lang="en-AU" sz="800" kern="0">
                <a:solidFill>
                  <a:srgbClr val="3A4A5E"/>
                </a:solidFill>
                <a:latin typeface="Arial" pitchFamily="34" charset="0"/>
                <a:cs typeface="Arial" pitchFamily="34" charset="0"/>
              </a:rPr>
              <a:t>“What documents are still required?”</a:t>
            </a:r>
          </a:p>
        </p:txBody>
      </p:sp>
      <p:sp>
        <p:nvSpPr>
          <p:cNvPr id="151" name="S151"/>
          <p:cNvSpPr/>
          <p:nvPr/>
        </p:nvSpPr>
        <p:spPr>
          <a:xfrm>
            <a:off x="4028281" y="2489200"/>
            <a:ext cx="1905000" cy="381000"/>
          </a:xfrm>
          <a:prstGeom prst="roundRect">
            <a:avLst>
              <a:gd name="adj" fmla="val 14000"/>
            </a:avLst>
          </a:prstGeom>
          <a:solidFill>
            <a:srgbClr val="E0A93B">
              <a:alpha val="12000"/>
            </a:srgbClr>
          </a:solidFill>
          <a:ln w="6350">
            <a:solidFill>
              <a:srgbClr val="E0A93B"/>
            </a:solidFill>
            <a:prstDash val="solid"/>
          </a:ln>
        </p:spPr>
        <p:txBody>
          <a:bodyPr wrap="square" lIns="101600" tIns="25400" rIns="101600" bIns="25400" anchor="ctr">
            <a:noAutofit/>
          </a:bodyPr>
          <a:lstStyle/>
          <a:p>
            <a:pPr algn="ctr">
              <a:lnSpc>
                <a:spcPct val="96000"/>
              </a:lnSpc>
            </a:pPr>
            <a:r>
              <a:rPr lang="en-AU" sz="800" kern="0">
                <a:solidFill>
                  <a:srgbClr val="3A4A5E"/>
                </a:solidFill>
                <a:latin typeface="Arial" pitchFamily="34" charset="0"/>
                <a:cs typeface="Arial" pitchFamily="34" charset="0"/>
              </a:rPr>
              <a:t>“Has my application progressed?”</a:t>
            </a:r>
          </a:p>
        </p:txBody>
      </p:sp>
      <p:sp>
        <p:nvSpPr>
          <p:cNvPr id="152" name="S152"/>
          <p:cNvSpPr/>
          <p:nvPr/>
        </p:nvSpPr>
        <p:spPr>
          <a:xfrm>
            <a:off x="6034881" y="2489200"/>
            <a:ext cx="1905000" cy="381000"/>
          </a:xfrm>
          <a:prstGeom prst="roundRect">
            <a:avLst>
              <a:gd name="adj" fmla="val 14000"/>
            </a:avLst>
          </a:prstGeom>
          <a:solidFill>
            <a:srgbClr val="E0A93B">
              <a:alpha val="12000"/>
            </a:srgbClr>
          </a:solidFill>
          <a:ln w="6350">
            <a:solidFill>
              <a:srgbClr val="E0A93B"/>
            </a:solidFill>
            <a:prstDash val="solid"/>
          </a:ln>
        </p:spPr>
        <p:txBody>
          <a:bodyPr wrap="square" lIns="101600" tIns="25400" rIns="101600" bIns="25400" anchor="ctr">
            <a:noAutofit/>
          </a:bodyPr>
          <a:lstStyle/>
          <a:p>
            <a:pPr algn="ctr">
              <a:lnSpc>
                <a:spcPct val="96000"/>
              </a:lnSpc>
            </a:pPr>
            <a:r>
              <a:rPr lang="en-AU" sz="800" kern="0">
                <a:solidFill>
                  <a:srgbClr val="3A4A5E"/>
                </a:solidFill>
                <a:latin typeface="Arial" pitchFamily="34" charset="0"/>
                <a:cs typeface="Arial" pitchFamily="34" charset="0"/>
              </a:rPr>
              <a:t>“When will I receive an outcome?”</a:t>
            </a:r>
          </a:p>
        </p:txBody>
      </p:sp>
      <p:sp>
        <p:nvSpPr>
          <p:cNvPr id="154" name="S154"/>
          <p:cNvSpPr/>
          <p:nvPr/>
        </p:nvSpPr>
        <p:spPr>
          <a:xfrm>
            <a:off x="8143081" y="2489200"/>
            <a:ext cx="3530600" cy="381000"/>
          </a:xfrm>
          <a:prstGeom prst="roundRect">
            <a:avLst>
              <a:gd name="adj" fmla="val 6000"/>
            </a:avLst>
          </a:prstGeom>
          <a:solidFill>
            <a:srgbClr val="EAF4F2">
              <a:alpha val="11765"/>
            </a:srgbClr>
          </a:solidFill>
          <a:ln w="9525">
            <a:solidFill>
              <a:srgbClr val="7226E0"/>
            </a:solidFill>
            <a:prstDash val="solid"/>
          </a:ln>
        </p:spPr>
        <p:txBody>
          <a:bodyPr wrap="square" lIns="114300" tIns="25400" rIns="114300" bIns="25400" anchor="ctr">
            <a:noAutofit/>
          </a:bodyPr>
          <a:lstStyle/>
          <a:p>
            <a:r>
              <a:rPr lang="en-AU" sz="800" b="1" kern="0" spc="60">
                <a:solidFill>
                  <a:srgbClr val="7226E0"/>
                </a:solidFill>
                <a:latin typeface="Arial" pitchFamily="34" charset="0"/>
                <a:cs typeface="Arial" pitchFamily="34" charset="0"/>
              </a:rPr>
              <a:t>REPEAT ENQUIRY LOOP DISAPPEARS</a:t>
            </a:r>
          </a:p>
          <a:p>
            <a:pPr>
              <a:lnSpc>
                <a:spcPct val="104000"/>
              </a:lnSpc>
              <a:spcBef>
                <a:spcPts val="300"/>
              </a:spcBef>
            </a:pPr>
            <a:r>
              <a:rPr lang="en-AU" sz="750" kern="0">
                <a:solidFill>
                  <a:srgbClr val="3A4A5E"/>
                </a:solidFill>
                <a:latin typeface="Arial" pitchFamily="34" charset="0"/>
                <a:cs typeface="Arial" pitchFamily="34" charset="0"/>
              </a:rPr>
              <a:t>AI provides proactive updates before members need to ask</a:t>
            </a:r>
          </a:p>
        </p:txBody>
      </p:sp>
      <p:sp>
        <p:nvSpPr>
          <p:cNvPr id="163" name="S163"/>
          <p:cNvSpPr/>
          <p:nvPr/>
        </p:nvSpPr>
        <p:spPr>
          <a:xfrm>
            <a:off x="11305381" y="6388100"/>
            <a:ext cx="368300" cy="203200"/>
          </a:xfrm>
          <a:prstGeom prst="rect">
            <a:avLst/>
          </a:prstGeom>
          <a:noFill/>
          <a:ln/>
        </p:spPr>
        <p:txBody>
          <a:bodyPr wrap="square" lIns="76200" tIns="38100" rIns="76200" bIns="38100" anchor="t">
            <a:noAutofit/>
          </a:bodyPr>
          <a:lstStyle/>
          <a:p>
            <a:pPr algn="r"/>
            <a:r>
              <a:rPr lang="en-AU" sz="750" kern="0">
                <a:solidFill>
                  <a:srgbClr val="8794A1"/>
                </a:solidFill>
                <a:latin typeface="Arial" pitchFamily="34" charset="0"/>
                <a:cs typeface="Arial" pitchFamily="34" charset="0"/>
              </a:rPr>
              <a:t>15</a:t>
            </a:r>
          </a:p>
        </p:txBody>
      </p:sp>
      <p:sp>
        <p:nvSpPr>
          <p:cNvPr id="170" name="S170"/>
          <p:cNvSpPr/>
          <p:nvPr/>
        </p:nvSpPr>
        <p:spPr>
          <a:xfrm>
            <a:off x="9667081" y="1397000"/>
            <a:ext cx="114300" cy="114300"/>
          </a:xfrm>
          <a:prstGeom prst="ellipse">
            <a:avLst/>
          </a:prstGeom>
          <a:solidFill>
            <a:srgbClr val="FF0000"/>
          </a:solidFill>
          <a:ln>
            <a:noFill/>
          </a:ln>
        </p:spPr>
        <p:txBody>
          <a:bodyPr wrap="square" lIns="0" tIns="0" rIns="0" bIns="0" anchor="t">
            <a:noAutofit/>
          </a:bodyPr>
          <a:lstStyle/>
          <a:p>
            <a:endParaRPr lang="en-AU"/>
          </a:p>
        </p:txBody>
      </p:sp>
      <p:sp>
        <p:nvSpPr>
          <p:cNvPr id="171" name="S171"/>
          <p:cNvSpPr/>
          <p:nvPr/>
        </p:nvSpPr>
        <p:spPr>
          <a:xfrm>
            <a:off x="9819481" y="1358900"/>
            <a:ext cx="1778000" cy="177800"/>
          </a:xfrm>
          <a:prstGeom prst="rect">
            <a:avLst/>
          </a:prstGeom>
          <a:noFill/>
          <a:ln/>
        </p:spPr>
        <p:txBody>
          <a:bodyPr wrap="none" lIns="0" tIns="0" rIns="0" bIns="0" anchor="ctr">
            <a:noAutofit/>
          </a:bodyPr>
          <a:lstStyle/>
          <a:p>
            <a:r>
              <a:rPr lang="en-AU" sz="750" kern="0">
                <a:solidFill>
                  <a:srgbClr val="5C6B7A"/>
                </a:solidFill>
                <a:latin typeface="Arial" pitchFamily="34" charset="0"/>
                <a:cs typeface="Arial" pitchFamily="34" charset="0"/>
              </a:rPr>
              <a:t>Friction / delay point / high manual effort</a:t>
            </a:r>
          </a:p>
        </p:txBody>
      </p:sp>
      <p:sp>
        <p:nvSpPr>
          <p:cNvPr id="40" name="t">
            <a:extLst>
              <a:ext uri="{FF2B5EF4-FFF2-40B4-BE49-F238E27FC236}">
                <a16:creationId xmlns:a16="http://schemas.microsoft.com/office/drawing/2014/main" id="{918E0A7D-3117-B2AC-181C-F9778F09643F}"/>
              </a:ext>
            </a:extLst>
          </p:cNvPr>
          <p:cNvSpPr txBox="1"/>
          <p:nvPr/>
        </p:nvSpPr>
        <p:spPr>
          <a:xfrm>
            <a:off x="1963458" y="3854529"/>
            <a:ext cx="900000" cy="368300"/>
          </a:xfrm>
          <a:prstGeom prst="rect">
            <a:avLst/>
          </a:prstGeom>
          <a:noFill/>
        </p:spPr>
        <p:txBody>
          <a:bodyPr wrap="square" lIns="0" tIns="0" rIns="0" bIns="0" anchor="ctr">
            <a:noAutofit/>
          </a:bodyPr>
          <a:lstStyle/>
          <a:p>
            <a:pPr algn="l">
              <a:buNone/>
            </a:pPr>
            <a:r>
              <a:rPr lang="en-US" sz="850" b="1">
                <a:solidFill>
                  <a:srgbClr val="1B2A41"/>
                </a:solidFill>
                <a:latin typeface="Arial"/>
                <a:cs typeface="Arial"/>
              </a:rPr>
              <a:t>AI-001  </a:t>
            </a:r>
            <a:r>
              <a:rPr lang="en-US" sz="850" b="0">
                <a:solidFill>
                  <a:srgbClr val="1C2B29"/>
                </a:solidFill>
                <a:latin typeface="Arial"/>
                <a:cs typeface="Arial"/>
              </a:rPr>
              <a:t>Intent Identifier and attachment detection</a:t>
            </a:r>
          </a:p>
        </p:txBody>
      </p:sp>
      <p:sp>
        <p:nvSpPr>
          <p:cNvPr id="42" name="t">
            <a:extLst>
              <a:ext uri="{FF2B5EF4-FFF2-40B4-BE49-F238E27FC236}">
                <a16:creationId xmlns:a16="http://schemas.microsoft.com/office/drawing/2014/main" id="{08560230-45B4-F36B-E20C-CAF000F6D53E}"/>
              </a:ext>
            </a:extLst>
          </p:cNvPr>
          <p:cNvSpPr txBox="1"/>
          <p:nvPr/>
        </p:nvSpPr>
        <p:spPr>
          <a:xfrm>
            <a:off x="2986758" y="3777042"/>
            <a:ext cx="900000" cy="368300"/>
          </a:xfrm>
          <a:prstGeom prst="rect">
            <a:avLst/>
          </a:prstGeom>
          <a:noFill/>
        </p:spPr>
        <p:txBody>
          <a:bodyPr wrap="square" lIns="0" tIns="0" rIns="0" bIns="0" anchor="ctr">
            <a:normAutofit/>
          </a:bodyPr>
          <a:lstStyle/>
          <a:p>
            <a:r>
              <a:rPr lang="en-US" sz="850" b="1">
                <a:solidFill>
                  <a:srgbClr val="1B2A41"/>
                </a:solidFill>
                <a:latin typeface="Arial"/>
                <a:cs typeface="Arial"/>
              </a:rPr>
              <a:t>AI-003  </a:t>
            </a:r>
            <a:r>
              <a:rPr lang="en-US" sz="850">
                <a:solidFill>
                  <a:srgbClr val="1C2B29"/>
                </a:solidFill>
                <a:latin typeface="Arial"/>
                <a:cs typeface="Arial"/>
              </a:rPr>
              <a:t>Identity &amp; Profiling Agent</a:t>
            </a:r>
          </a:p>
        </p:txBody>
      </p:sp>
      <p:sp>
        <p:nvSpPr>
          <p:cNvPr id="45" name="t">
            <a:extLst>
              <a:ext uri="{FF2B5EF4-FFF2-40B4-BE49-F238E27FC236}">
                <a16:creationId xmlns:a16="http://schemas.microsoft.com/office/drawing/2014/main" id="{62D8C483-82AA-D4D1-AEBB-04666B4844C1}"/>
              </a:ext>
            </a:extLst>
          </p:cNvPr>
          <p:cNvSpPr txBox="1"/>
          <p:nvPr/>
        </p:nvSpPr>
        <p:spPr>
          <a:xfrm>
            <a:off x="5078264" y="3854529"/>
            <a:ext cx="900000" cy="368300"/>
          </a:xfrm>
          <a:prstGeom prst="rect">
            <a:avLst/>
          </a:prstGeom>
          <a:noFill/>
        </p:spPr>
        <p:txBody>
          <a:bodyPr wrap="square" lIns="0" tIns="0" rIns="0" bIns="0" anchor="ctr">
            <a:normAutofit lnSpcReduction="10000"/>
          </a:bodyPr>
          <a:lstStyle/>
          <a:p>
            <a:r>
              <a:rPr lang="en-US" sz="850" b="1">
                <a:solidFill>
                  <a:srgbClr val="1B2A41"/>
                </a:solidFill>
                <a:latin typeface="Arial"/>
                <a:cs typeface="Arial"/>
              </a:rPr>
              <a:t>AI-002  </a:t>
            </a:r>
            <a:r>
              <a:rPr lang="en-US" sz="850">
                <a:solidFill>
                  <a:srgbClr val="1C2B29"/>
                </a:solidFill>
                <a:latin typeface="Arial"/>
                <a:cs typeface="Arial"/>
              </a:rPr>
              <a:t>Conversation Context Manager</a:t>
            </a:r>
          </a:p>
        </p:txBody>
      </p:sp>
      <p:sp>
        <p:nvSpPr>
          <p:cNvPr id="47" name="t">
            <a:extLst>
              <a:ext uri="{FF2B5EF4-FFF2-40B4-BE49-F238E27FC236}">
                <a16:creationId xmlns:a16="http://schemas.microsoft.com/office/drawing/2014/main" id="{FD2E6438-77C4-5E3E-DA32-E02AA18DC6E3}"/>
              </a:ext>
            </a:extLst>
          </p:cNvPr>
          <p:cNvSpPr txBox="1"/>
          <p:nvPr/>
        </p:nvSpPr>
        <p:spPr>
          <a:xfrm>
            <a:off x="4023314" y="3815691"/>
            <a:ext cx="576022" cy="368300"/>
          </a:xfrm>
          <a:prstGeom prst="rect">
            <a:avLst/>
          </a:prstGeom>
          <a:noFill/>
        </p:spPr>
        <p:txBody>
          <a:bodyPr wrap="square" lIns="0" tIns="0" rIns="0" bIns="0" anchor="ctr">
            <a:normAutofit lnSpcReduction="10000"/>
          </a:bodyPr>
          <a:lstStyle/>
          <a:p>
            <a:pPr algn="l">
              <a:buNone/>
            </a:pPr>
            <a:r>
              <a:rPr lang="en-US" sz="850" b="1">
                <a:solidFill>
                  <a:srgbClr val="1B2A41"/>
                </a:solidFill>
                <a:latin typeface="Arial"/>
                <a:cs typeface="Arial"/>
              </a:rPr>
              <a:t>AI-005  </a:t>
            </a:r>
            <a:r>
              <a:rPr lang="en-US" sz="850" b="0">
                <a:solidFill>
                  <a:srgbClr val="1C2B29"/>
                </a:solidFill>
                <a:latin typeface="Arial"/>
                <a:cs typeface="Arial"/>
              </a:rPr>
              <a:t>Empathy Agent</a:t>
            </a:r>
          </a:p>
        </p:txBody>
      </p:sp>
      <p:sp>
        <p:nvSpPr>
          <p:cNvPr id="49" name="t">
            <a:extLst>
              <a:ext uri="{FF2B5EF4-FFF2-40B4-BE49-F238E27FC236}">
                <a16:creationId xmlns:a16="http://schemas.microsoft.com/office/drawing/2014/main" id="{BAD969F9-3719-E369-3087-67623A759650}"/>
              </a:ext>
            </a:extLst>
          </p:cNvPr>
          <p:cNvSpPr txBox="1"/>
          <p:nvPr/>
        </p:nvSpPr>
        <p:spPr>
          <a:xfrm>
            <a:off x="8447382" y="3815691"/>
            <a:ext cx="900000" cy="368300"/>
          </a:xfrm>
          <a:prstGeom prst="rect">
            <a:avLst/>
          </a:prstGeom>
          <a:noFill/>
        </p:spPr>
        <p:txBody>
          <a:bodyPr wrap="square" lIns="0" tIns="0" rIns="0" bIns="0" anchor="ctr">
            <a:normAutofit/>
          </a:bodyPr>
          <a:lstStyle/>
          <a:p>
            <a:pPr algn="l">
              <a:buNone/>
            </a:pPr>
            <a:r>
              <a:rPr lang="en-US" sz="850" b="1">
                <a:solidFill>
                  <a:srgbClr val="1B2A41"/>
                </a:solidFill>
                <a:latin typeface="Arial"/>
                <a:cs typeface="Arial"/>
              </a:rPr>
              <a:t>AI-011  </a:t>
            </a:r>
            <a:r>
              <a:rPr lang="en-US" sz="850" b="0">
                <a:solidFill>
                  <a:srgbClr val="1C2B29"/>
                </a:solidFill>
                <a:latin typeface="Arial"/>
                <a:cs typeface="Arial"/>
              </a:rPr>
              <a:t>Writer</a:t>
            </a:r>
          </a:p>
        </p:txBody>
      </p:sp>
      <p:sp>
        <p:nvSpPr>
          <p:cNvPr id="51" name="t">
            <a:extLst>
              <a:ext uri="{FF2B5EF4-FFF2-40B4-BE49-F238E27FC236}">
                <a16:creationId xmlns:a16="http://schemas.microsoft.com/office/drawing/2014/main" id="{FC032FD6-0195-6105-F9E6-6B7DACD9EF5C}"/>
              </a:ext>
            </a:extLst>
          </p:cNvPr>
          <p:cNvSpPr txBox="1"/>
          <p:nvPr/>
        </p:nvSpPr>
        <p:spPr>
          <a:xfrm>
            <a:off x="8447382" y="4142788"/>
            <a:ext cx="900000" cy="368300"/>
          </a:xfrm>
          <a:prstGeom prst="rect">
            <a:avLst/>
          </a:prstGeom>
          <a:noFill/>
        </p:spPr>
        <p:txBody>
          <a:bodyPr wrap="square" lIns="0" tIns="0" rIns="0" bIns="0" anchor="ctr">
            <a:normAutofit/>
          </a:bodyPr>
          <a:lstStyle/>
          <a:p>
            <a:pPr algn="l">
              <a:buNone/>
            </a:pPr>
            <a:r>
              <a:rPr lang="en-US" sz="850" b="1">
                <a:solidFill>
                  <a:srgbClr val="1B2A41"/>
                </a:solidFill>
                <a:latin typeface="Arial"/>
                <a:cs typeface="Arial"/>
              </a:rPr>
              <a:t>AI-012  </a:t>
            </a:r>
            <a:r>
              <a:rPr lang="en-US" sz="850" b="0">
                <a:solidFill>
                  <a:srgbClr val="1C2B29"/>
                </a:solidFill>
                <a:latin typeface="Arial"/>
                <a:cs typeface="Arial"/>
              </a:rPr>
              <a:t>Reviewer &amp; Editor</a:t>
            </a:r>
          </a:p>
        </p:txBody>
      </p:sp>
      <p:sp>
        <p:nvSpPr>
          <p:cNvPr id="53" name="t">
            <a:extLst>
              <a:ext uri="{FF2B5EF4-FFF2-40B4-BE49-F238E27FC236}">
                <a16:creationId xmlns:a16="http://schemas.microsoft.com/office/drawing/2014/main" id="{856C7B32-F303-DCAC-FAF0-E87A8A03CF43}"/>
              </a:ext>
            </a:extLst>
          </p:cNvPr>
          <p:cNvSpPr txBox="1"/>
          <p:nvPr/>
        </p:nvSpPr>
        <p:spPr>
          <a:xfrm>
            <a:off x="4021432" y="4247279"/>
            <a:ext cx="900000" cy="368300"/>
          </a:xfrm>
          <a:prstGeom prst="rect">
            <a:avLst/>
          </a:prstGeom>
          <a:noFill/>
        </p:spPr>
        <p:txBody>
          <a:bodyPr wrap="square" lIns="0" tIns="0" rIns="0" bIns="0" anchor="ctr">
            <a:normAutofit lnSpcReduction="10000"/>
          </a:bodyPr>
          <a:lstStyle/>
          <a:p>
            <a:pPr algn="l">
              <a:buNone/>
            </a:pPr>
            <a:r>
              <a:rPr lang="en-US" sz="850" b="1">
                <a:solidFill>
                  <a:srgbClr val="1B2A41"/>
                </a:solidFill>
                <a:latin typeface="Arial"/>
                <a:cs typeface="Arial"/>
              </a:rPr>
              <a:t>AI-004  </a:t>
            </a:r>
            <a:r>
              <a:rPr lang="en-US" sz="850" b="0">
                <a:solidFill>
                  <a:srgbClr val="1C2B29"/>
                </a:solidFill>
                <a:latin typeface="Arial"/>
                <a:cs typeface="Arial"/>
              </a:rPr>
              <a:t>Attachment Validation Agent</a:t>
            </a:r>
          </a:p>
        </p:txBody>
      </p:sp>
      <p:sp>
        <p:nvSpPr>
          <p:cNvPr id="55" name="t">
            <a:extLst>
              <a:ext uri="{FF2B5EF4-FFF2-40B4-BE49-F238E27FC236}">
                <a16:creationId xmlns:a16="http://schemas.microsoft.com/office/drawing/2014/main" id="{CC192F0B-534F-5C49-0258-7944E8D37BA8}"/>
              </a:ext>
            </a:extLst>
          </p:cNvPr>
          <p:cNvSpPr txBox="1"/>
          <p:nvPr/>
        </p:nvSpPr>
        <p:spPr>
          <a:xfrm>
            <a:off x="5181420" y="4638671"/>
            <a:ext cx="2278775" cy="393700"/>
          </a:xfrm>
          <a:prstGeom prst="rect">
            <a:avLst/>
          </a:prstGeom>
          <a:noFill/>
        </p:spPr>
        <p:txBody>
          <a:bodyPr wrap="square" lIns="0" tIns="0" rIns="0" bIns="0" anchor="ctr">
            <a:normAutofit/>
          </a:bodyPr>
          <a:lstStyle/>
          <a:p>
            <a:pPr algn="l">
              <a:buNone/>
            </a:pPr>
            <a:r>
              <a:rPr lang="en-US" sz="850" b="1">
                <a:solidFill>
                  <a:srgbClr val="1B2A41"/>
                </a:solidFill>
                <a:latin typeface="Arial"/>
                <a:cs typeface="Arial"/>
              </a:rPr>
              <a:t>AI-013  </a:t>
            </a:r>
            <a:r>
              <a:rPr lang="en-US" sz="850" b="0">
                <a:solidFill>
                  <a:srgbClr val="1C2B29"/>
                </a:solidFill>
                <a:latin typeface="Arial"/>
                <a:cs typeface="Arial"/>
              </a:rPr>
              <a:t>Human Feedback Learning</a:t>
            </a:r>
          </a:p>
        </p:txBody>
      </p:sp>
      <p:sp>
        <p:nvSpPr>
          <p:cNvPr id="57" name="t">
            <a:extLst>
              <a:ext uri="{FF2B5EF4-FFF2-40B4-BE49-F238E27FC236}">
                <a16:creationId xmlns:a16="http://schemas.microsoft.com/office/drawing/2014/main" id="{0446FCD8-39BB-0F8F-98B2-33D2FA1F50C2}"/>
              </a:ext>
            </a:extLst>
          </p:cNvPr>
          <p:cNvSpPr txBox="1"/>
          <p:nvPr/>
        </p:nvSpPr>
        <p:spPr>
          <a:xfrm>
            <a:off x="669211" y="4103513"/>
            <a:ext cx="963032" cy="262922"/>
          </a:xfrm>
          <a:prstGeom prst="rect">
            <a:avLst/>
          </a:prstGeom>
          <a:noFill/>
        </p:spPr>
        <p:txBody>
          <a:bodyPr wrap="square" lIns="0" tIns="0" rIns="0" bIns="0" anchor="ctr">
            <a:normAutofit/>
          </a:bodyPr>
          <a:lstStyle/>
          <a:p>
            <a:pPr algn="l">
              <a:buNone/>
            </a:pPr>
            <a:r>
              <a:rPr lang="en-US" sz="850" b="1">
                <a:solidFill>
                  <a:srgbClr val="1B2A41"/>
                </a:solidFill>
                <a:latin typeface="Arial"/>
                <a:cs typeface="Arial"/>
              </a:rPr>
              <a:t>AI Dashboard</a:t>
            </a:r>
            <a:endParaRPr lang="en-US" sz="850" b="0">
              <a:solidFill>
                <a:srgbClr val="1C2B29"/>
              </a:solidFill>
              <a:latin typeface="Arial"/>
              <a:cs typeface="Arial"/>
            </a:endParaRPr>
          </a:p>
        </p:txBody>
      </p:sp>
      <p:pic>
        <p:nvPicPr>
          <p:cNvPr id="59" name="Graphic 58" descr="Robot outline">
            <a:extLst>
              <a:ext uri="{FF2B5EF4-FFF2-40B4-BE49-F238E27FC236}">
                <a16:creationId xmlns:a16="http://schemas.microsoft.com/office/drawing/2014/main" id="{E95A89FC-A36D-29B7-2726-BEA52166BB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4585" y="3349934"/>
            <a:ext cx="503847" cy="437998"/>
          </a:xfrm>
          <a:prstGeom prst="rect">
            <a:avLst/>
          </a:prstGeom>
        </p:spPr>
      </p:pic>
      <p:pic>
        <p:nvPicPr>
          <p:cNvPr id="60" name="Graphic 59" descr="Robot outline">
            <a:extLst>
              <a:ext uri="{FF2B5EF4-FFF2-40B4-BE49-F238E27FC236}">
                <a16:creationId xmlns:a16="http://schemas.microsoft.com/office/drawing/2014/main" id="{0A8F9E73-3F5D-2F20-8F18-4FB5529928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6758" y="3352072"/>
            <a:ext cx="503847" cy="437998"/>
          </a:xfrm>
          <a:prstGeom prst="rect">
            <a:avLst/>
          </a:prstGeom>
        </p:spPr>
      </p:pic>
      <p:pic>
        <p:nvPicPr>
          <p:cNvPr id="61" name="Graphic 60" descr="Robot outline">
            <a:extLst>
              <a:ext uri="{FF2B5EF4-FFF2-40B4-BE49-F238E27FC236}">
                <a16:creationId xmlns:a16="http://schemas.microsoft.com/office/drawing/2014/main" id="{53321735-05AF-430A-72FF-C04AC3E35A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68931" y="3354210"/>
            <a:ext cx="503847" cy="437998"/>
          </a:xfrm>
          <a:prstGeom prst="rect">
            <a:avLst/>
          </a:prstGeom>
        </p:spPr>
      </p:pic>
      <p:pic>
        <p:nvPicPr>
          <p:cNvPr id="62" name="Graphic 61" descr="Robot outline">
            <a:extLst>
              <a:ext uri="{FF2B5EF4-FFF2-40B4-BE49-F238E27FC236}">
                <a16:creationId xmlns:a16="http://schemas.microsoft.com/office/drawing/2014/main" id="{88B3C22B-75D8-9DE9-B0ED-20E0B449BC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51104" y="3356348"/>
            <a:ext cx="503847" cy="437998"/>
          </a:xfrm>
          <a:prstGeom prst="rect">
            <a:avLst/>
          </a:prstGeom>
        </p:spPr>
      </p:pic>
      <p:cxnSp>
        <p:nvCxnSpPr>
          <p:cNvPr id="448" name="Straight Arrow Connector 447">
            <a:extLst>
              <a:ext uri="{FF2B5EF4-FFF2-40B4-BE49-F238E27FC236}">
                <a16:creationId xmlns:a16="http://schemas.microsoft.com/office/drawing/2014/main" id="{877F4B59-11D1-D378-15C6-6DE2D07EFD2E}"/>
              </a:ext>
            </a:extLst>
          </p:cNvPr>
          <p:cNvCxnSpPr>
            <a:endCxn id="60" idx="1"/>
          </p:cNvCxnSpPr>
          <p:nvPr/>
        </p:nvCxnSpPr>
        <p:spPr>
          <a:xfrm flipV="1">
            <a:off x="2508432" y="3571071"/>
            <a:ext cx="478326" cy="42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0" name="Straight Arrow Connector 449">
            <a:extLst>
              <a:ext uri="{FF2B5EF4-FFF2-40B4-BE49-F238E27FC236}">
                <a16:creationId xmlns:a16="http://schemas.microsoft.com/office/drawing/2014/main" id="{DBF6070D-261E-795E-339F-FD2C941AE652}"/>
              </a:ext>
            </a:extLst>
          </p:cNvPr>
          <p:cNvCxnSpPr>
            <a:cxnSpLocks/>
            <a:endCxn id="61" idx="1"/>
          </p:cNvCxnSpPr>
          <p:nvPr/>
        </p:nvCxnSpPr>
        <p:spPr>
          <a:xfrm>
            <a:off x="3490605" y="3568933"/>
            <a:ext cx="478326" cy="42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3" name="Straight Arrow Connector 452">
            <a:extLst>
              <a:ext uri="{FF2B5EF4-FFF2-40B4-BE49-F238E27FC236}">
                <a16:creationId xmlns:a16="http://schemas.microsoft.com/office/drawing/2014/main" id="{B826BE5C-58E0-55B2-1E21-0A25029DE41A}"/>
              </a:ext>
            </a:extLst>
          </p:cNvPr>
          <p:cNvCxnSpPr>
            <a:endCxn id="62" idx="1"/>
          </p:cNvCxnSpPr>
          <p:nvPr/>
        </p:nvCxnSpPr>
        <p:spPr>
          <a:xfrm>
            <a:off x="4471432" y="3575347"/>
            <a:ext cx="47967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5" name="Straight Arrow Connector 454">
            <a:extLst>
              <a:ext uri="{FF2B5EF4-FFF2-40B4-BE49-F238E27FC236}">
                <a16:creationId xmlns:a16="http://schemas.microsoft.com/office/drawing/2014/main" id="{0C6755F1-C69B-E4E5-F9BD-92ECF8D4AD45}"/>
              </a:ext>
            </a:extLst>
          </p:cNvPr>
          <p:cNvCxnSpPr>
            <a:cxnSpLocks/>
            <a:stCxn id="62" idx="3"/>
          </p:cNvCxnSpPr>
          <p:nvPr/>
        </p:nvCxnSpPr>
        <p:spPr>
          <a:xfrm>
            <a:off x="5454951" y="3575347"/>
            <a:ext cx="6729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58" name="Rectangle: Rounded Corners 457">
            <a:extLst>
              <a:ext uri="{FF2B5EF4-FFF2-40B4-BE49-F238E27FC236}">
                <a16:creationId xmlns:a16="http://schemas.microsoft.com/office/drawing/2014/main" id="{94FB2A62-5339-1B78-7888-2D783A539448}"/>
              </a:ext>
            </a:extLst>
          </p:cNvPr>
          <p:cNvSpPr/>
          <p:nvPr/>
        </p:nvSpPr>
        <p:spPr>
          <a:xfrm>
            <a:off x="6161272" y="3390899"/>
            <a:ext cx="1778609" cy="373086"/>
          </a:xfrm>
          <a:prstGeom prst="roundRect">
            <a:avLst>
              <a:gd name="adj" fmla="val 14651"/>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a:solidFill>
                  <a:schemeClr val="tx1"/>
                </a:solidFill>
              </a:rPr>
              <a:t>GROW and CNTX</a:t>
            </a:r>
          </a:p>
        </p:txBody>
      </p:sp>
      <p:pic>
        <p:nvPicPr>
          <p:cNvPr id="459" name="Graphic 458" descr="Robot outline">
            <a:extLst>
              <a:ext uri="{FF2B5EF4-FFF2-40B4-BE49-F238E27FC236}">
                <a16:creationId xmlns:a16="http://schemas.microsoft.com/office/drawing/2014/main" id="{6054689E-2E36-E30A-55BD-24D70798FD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87085" y="3391981"/>
            <a:ext cx="503847" cy="437998"/>
          </a:xfrm>
          <a:prstGeom prst="rect">
            <a:avLst/>
          </a:prstGeom>
        </p:spPr>
      </p:pic>
      <p:cxnSp>
        <p:nvCxnSpPr>
          <p:cNvPr id="462" name="Straight Arrow Connector 461">
            <a:extLst>
              <a:ext uri="{FF2B5EF4-FFF2-40B4-BE49-F238E27FC236}">
                <a16:creationId xmlns:a16="http://schemas.microsoft.com/office/drawing/2014/main" id="{6899A30A-7793-79A1-2E07-A55434BC2C48}"/>
              </a:ext>
            </a:extLst>
          </p:cNvPr>
          <p:cNvCxnSpPr>
            <a:cxnSpLocks/>
            <a:endCxn id="459" idx="1"/>
          </p:cNvCxnSpPr>
          <p:nvPr/>
        </p:nvCxnSpPr>
        <p:spPr>
          <a:xfrm>
            <a:off x="8090932" y="3610980"/>
            <a:ext cx="396153"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79" name="Connector: Elbow 478">
            <a:extLst>
              <a:ext uri="{FF2B5EF4-FFF2-40B4-BE49-F238E27FC236}">
                <a16:creationId xmlns:a16="http://schemas.microsoft.com/office/drawing/2014/main" id="{11DCEE16-E0D6-7A59-8447-FABEFACB9161}"/>
              </a:ext>
            </a:extLst>
          </p:cNvPr>
          <p:cNvCxnSpPr>
            <a:cxnSpLocks/>
            <a:stCxn id="51" idx="2"/>
            <a:endCxn id="458" idx="2"/>
          </p:cNvCxnSpPr>
          <p:nvPr/>
        </p:nvCxnSpPr>
        <p:spPr>
          <a:xfrm rot="5400000" flipH="1">
            <a:off x="7600428" y="3214135"/>
            <a:ext cx="747103" cy="1846805"/>
          </a:xfrm>
          <a:prstGeom prst="bentConnector3">
            <a:avLst>
              <a:gd name="adj1" fmla="val -30598"/>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97" name="Straight Arrow Connector 496">
            <a:extLst>
              <a:ext uri="{FF2B5EF4-FFF2-40B4-BE49-F238E27FC236}">
                <a16:creationId xmlns:a16="http://schemas.microsoft.com/office/drawing/2014/main" id="{C9923210-DA14-0962-4E8D-E0CF77C1E975}"/>
              </a:ext>
            </a:extLst>
          </p:cNvPr>
          <p:cNvCxnSpPr>
            <a:cxnSpLocks/>
            <a:endCxn id="504" idx="1"/>
          </p:cNvCxnSpPr>
          <p:nvPr/>
        </p:nvCxnSpPr>
        <p:spPr>
          <a:xfrm flipV="1">
            <a:off x="8990932" y="3608359"/>
            <a:ext cx="863969" cy="26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04" name="Graphic 503" descr="Hero Female outline">
            <a:extLst>
              <a:ext uri="{FF2B5EF4-FFF2-40B4-BE49-F238E27FC236}">
                <a16:creationId xmlns:a16="http://schemas.microsoft.com/office/drawing/2014/main" id="{A82C3DD4-C915-DAE7-B469-F1E5A41A55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54901" y="3368864"/>
            <a:ext cx="478989" cy="478989"/>
          </a:xfrm>
          <a:prstGeom prst="rect">
            <a:avLst/>
          </a:prstGeom>
        </p:spPr>
      </p:pic>
      <p:pic>
        <p:nvPicPr>
          <p:cNvPr id="509" name="Graphic 508" descr="Robot outline">
            <a:extLst>
              <a:ext uri="{FF2B5EF4-FFF2-40B4-BE49-F238E27FC236}">
                <a16:creationId xmlns:a16="http://schemas.microsoft.com/office/drawing/2014/main" id="{58066F47-0A33-9796-E187-13C3F0275E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7374" y="3774913"/>
            <a:ext cx="503847" cy="437998"/>
          </a:xfrm>
          <a:prstGeom prst="rect">
            <a:avLst/>
          </a:prstGeom>
        </p:spPr>
      </p:pic>
      <p:sp>
        <p:nvSpPr>
          <p:cNvPr id="510" name="Oval 509">
            <a:extLst>
              <a:ext uri="{FF2B5EF4-FFF2-40B4-BE49-F238E27FC236}">
                <a16:creationId xmlns:a16="http://schemas.microsoft.com/office/drawing/2014/main" id="{7A760E4D-32BD-E3C9-D51C-7D2F10E1C712}"/>
              </a:ext>
            </a:extLst>
          </p:cNvPr>
          <p:cNvSpPr/>
          <p:nvPr/>
        </p:nvSpPr>
        <p:spPr>
          <a:xfrm>
            <a:off x="11088721" y="3356542"/>
            <a:ext cx="504000" cy="5040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300">
              <a:solidFill>
                <a:schemeClr val="tx1"/>
              </a:solidFill>
            </a:endParaRPr>
          </a:p>
        </p:txBody>
      </p:sp>
      <p:cxnSp>
        <p:nvCxnSpPr>
          <p:cNvPr id="64" name="Straight Arrow Connector 63">
            <a:extLst>
              <a:ext uri="{FF2B5EF4-FFF2-40B4-BE49-F238E27FC236}">
                <a16:creationId xmlns:a16="http://schemas.microsoft.com/office/drawing/2014/main" id="{C887B02A-29BF-27AC-4F14-211A0B09D9F4}"/>
              </a:ext>
            </a:extLst>
          </p:cNvPr>
          <p:cNvCxnSpPr>
            <a:cxnSpLocks/>
          </p:cNvCxnSpPr>
          <p:nvPr/>
        </p:nvCxnSpPr>
        <p:spPr>
          <a:xfrm>
            <a:off x="10333890" y="3608359"/>
            <a:ext cx="676878" cy="1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S115">
            <a:extLst>
              <a:ext uri="{FF2B5EF4-FFF2-40B4-BE49-F238E27FC236}">
                <a16:creationId xmlns:a16="http://schemas.microsoft.com/office/drawing/2014/main" id="{2794585C-6212-15DA-A13D-D1373D2F3330}"/>
              </a:ext>
            </a:extLst>
          </p:cNvPr>
          <p:cNvSpPr/>
          <p:nvPr/>
        </p:nvSpPr>
        <p:spPr>
          <a:xfrm>
            <a:off x="11071549" y="3495697"/>
            <a:ext cx="538343" cy="268287"/>
          </a:xfrm>
          <a:prstGeom prst="rect">
            <a:avLst/>
          </a:prstGeom>
          <a:noFill/>
          <a:ln/>
        </p:spPr>
        <p:txBody>
          <a:bodyPr wrap="square" lIns="25400" tIns="38100" rIns="25400" bIns="38100" anchor="t">
            <a:noAutofit/>
          </a:bodyPr>
          <a:lstStyle/>
          <a:p>
            <a:pPr algn="ctr">
              <a:lnSpc>
                <a:spcPct val="96000"/>
              </a:lnSpc>
            </a:pPr>
            <a:r>
              <a:rPr lang="en-AU" sz="600" b="1" kern="0">
                <a:solidFill>
                  <a:srgbClr val="3A4A5E"/>
                </a:solidFill>
                <a:latin typeface="Arial" pitchFamily="34" charset="0"/>
                <a:cs typeface="Arial" pitchFamily="34" charset="0"/>
              </a:rPr>
              <a:t>CASE CLOSED</a:t>
            </a:r>
          </a:p>
        </p:txBody>
      </p:sp>
      <p:sp>
        <p:nvSpPr>
          <p:cNvPr id="7" name="TextBox 6">
            <a:extLst>
              <a:ext uri="{FF2B5EF4-FFF2-40B4-BE49-F238E27FC236}">
                <a16:creationId xmlns:a16="http://schemas.microsoft.com/office/drawing/2014/main" id="{ADD74A3B-E1E5-6B06-F6C8-75502F26E9EE}"/>
              </a:ext>
            </a:extLst>
          </p:cNvPr>
          <p:cNvSpPr txBox="1"/>
          <p:nvPr/>
        </p:nvSpPr>
        <p:spPr>
          <a:xfrm>
            <a:off x="1832070" y="5144223"/>
            <a:ext cx="3340248" cy="756489"/>
          </a:xfrm>
          <a:prstGeom prst="rect">
            <a:avLst/>
          </a:prstGeom>
          <a:noFill/>
        </p:spPr>
        <p:txBody>
          <a:bodyPr wrap="square" anchor="ctr" anchorCtr="0">
            <a:spAutoFit/>
          </a:bodyPr>
          <a:lstStyle/>
          <a:p>
            <a:pPr algn="l">
              <a:spcBef>
                <a:spcPts val="400"/>
              </a:spcBef>
              <a:buNone/>
            </a:pPr>
            <a:r>
              <a:rPr lang="en-AU" sz="900" b="1" kern="0" spc="80">
                <a:latin typeface="Arial" pitchFamily="34" charset="0"/>
                <a:cs typeface="Arial" pitchFamily="34" charset="0"/>
              </a:rPr>
              <a:t>EXECUTIVE</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Member experience</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First contact resolution</a:t>
            </a:r>
          </a:p>
          <a:p>
            <a:pPr algn="l">
              <a:spcBef>
                <a:spcPts val="400"/>
              </a:spcBef>
              <a:buNone/>
            </a:pPr>
            <a:endParaRPr lang="en-AU" sz="900" b="1" spc="60">
              <a:solidFill>
                <a:srgbClr val="292460"/>
              </a:solidFill>
              <a:latin typeface="Arial"/>
              <a:cs typeface="Arial"/>
            </a:endParaRPr>
          </a:p>
        </p:txBody>
      </p:sp>
      <p:sp>
        <p:nvSpPr>
          <p:cNvPr id="5" name="S104">
            <a:extLst>
              <a:ext uri="{FF2B5EF4-FFF2-40B4-BE49-F238E27FC236}">
                <a16:creationId xmlns:a16="http://schemas.microsoft.com/office/drawing/2014/main" id="{FFB33A47-D279-5898-BEF4-40E543B01F75}"/>
              </a:ext>
            </a:extLst>
          </p:cNvPr>
          <p:cNvSpPr/>
          <p:nvPr/>
        </p:nvSpPr>
        <p:spPr>
          <a:xfrm>
            <a:off x="534670" y="4974298"/>
            <a:ext cx="11144923" cy="963783"/>
          </a:xfrm>
          <a:prstGeom prst="rect">
            <a:avLst/>
          </a:prstGeom>
          <a:solidFill>
            <a:srgbClr val="7226E0">
              <a:alpha val="7000"/>
            </a:srgbClr>
          </a:solidFill>
          <a:ln/>
        </p:spPr>
        <p:txBody>
          <a:bodyPr wrap="square" lIns="76200" tIns="38100" rIns="76200" bIns="38100" anchor="t">
            <a:noAutofit/>
          </a:bodyPr>
          <a:lstStyle/>
          <a:p>
            <a:endParaRPr lang="en-AU"/>
          </a:p>
        </p:txBody>
      </p:sp>
      <p:sp>
        <p:nvSpPr>
          <p:cNvPr id="6" name="S106">
            <a:extLst>
              <a:ext uri="{FF2B5EF4-FFF2-40B4-BE49-F238E27FC236}">
                <a16:creationId xmlns:a16="http://schemas.microsoft.com/office/drawing/2014/main" id="{60D92ABF-10A3-E9F1-B076-4A046A41497E}"/>
              </a:ext>
            </a:extLst>
          </p:cNvPr>
          <p:cNvSpPr/>
          <p:nvPr/>
        </p:nvSpPr>
        <p:spPr>
          <a:xfrm>
            <a:off x="581446" y="4996591"/>
            <a:ext cx="1498600" cy="186378"/>
          </a:xfrm>
          <a:prstGeom prst="rect">
            <a:avLst/>
          </a:prstGeom>
          <a:noFill/>
          <a:ln/>
        </p:spPr>
        <p:txBody>
          <a:bodyPr wrap="square" lIns="76200" tIns="38100" rIns="76200" bIns="38100" anchor="t">
            <a:noAutofit/>
          </a:bodyPr>
          <a:lstStyle/>
          <a:p>
            <a:pPr>
              <a:lnSpc>
                <a:spcPct val="94000"/>
              </a:lnSpc>
            </a:pPr>
            <a:r>
              <a:rPr lang="en-AU" sz="900" b="1" kern="0" spc="80">
                <a:solidFill>
                  <a:srgbClr val="7226E0"/>
                </a:solidFill>
                <a:latin typeface="Arial" pitchFamily="34" charset="0"/>
                <a:cs typeface="Arial" pitchFamily="34" charset="0"/>
              </a:rPr>
              <a:t>IMPROVES</a:t>
            </a:r>
            <a:endParaRPr lang="en-AU" sz="700" i="1" kern="0">
              <a:solidFill>
                <a:srgbClr val="5C6B7A"/>
              </a:solidFill>
              <a:latin typeface="Arial" pitchFamily="34" charset="0"/>
              <a:cs typeface="Arial" pitchFamily="34" charset="0"/>
            </a:endParaRPr>
          </a:p>
        </p:txBody>
      </p:sp>
      <p:sp>
        <p:nvSpPr>
          <p:cNvPr id="26" name="TextBox 25">
            <a:extLst>
              <a:ext uri="{FF2B5EF4-FFF2-40B4-BE49-F238E27FC236}">
                <a16:creationId xmlns:a16="http://schemas.microsoft.com/office/drawing/2014/main" id="{A7F6B304-C2C1-AC41-CDCE-41919E267281}"/>
              </a:ext>
            </a:extLst>
          </p:cNvPr>
          <p:cNvSpPr txBox="1"/>
          <p:nvPr/>
        </p:nvSpPr>
        <p:spPr>
          <a:xfrm>
            <a:off x="5462506" y="5144223"/>
            <a:ext cx="3160712" cy="554191"/>
          </a:xfrm>
          <a:prstGeom prst="rect">
            <a:avLst/>
          </a:prstGeom>
          <a:noFill/>
        </p:spPr>
        <p:txBody>
          <a:bodyPr wrap="square">
            <a:spAutoFit/>
          </a:bodyPr>
          <a:lstStyle/>
          <a:p>
            <a:pPr>
              <a:spcBef>
                <a:spcPts val="400"/>
              </a:spcBef>
            </a:pPr>
            <a:r>
              <a:rPr lang="en-AU" sz="900" b="1" kern="0" spc="80">
                <a:latin typeface="Arial" pitchFamily="34" charset="0"/>
                <a:cs typeface="Arial" pitchFamily="34" charset="0"/>
              </a:rPr>
              <a:t>OPERATIONAL</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Intent &amp; routing accuracy</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Average handling time</a:t>
            </a:r>
          </a:p>
        </p:txBody>
      </p:sp>
      <p:sp>
        <p:nvSpPr>
          <p:cNvPr id="4" name="TextBox 3">
            <a:extLst>
              <a:ext uri="{FF2B5EF4-FFF2-40B4-BE49-F238E27FC236}">
                <a16:creationId xmlns:a16="http://schemas.microsoft.com/office/drawing/2014/main" id="{F45AD282-6A4C-28B7-1562-1CEF45AB458A}"/>
              </a:ext>
            </a:extLst>
          </p:cNvPr>
          <p:cNvSpPr txBox="1"/>
          <p:nvPr/>
        </p:nvSpPr>
        <p:spPr>
          <a:xfrm>
            <a:off x="3543177" y="5318408"/>
            <a:ext cx="1221859" cy="402867"/>
          </a:xfrm>
          <a:prstGeom prst="rect">
            <a:avLst/>
          </a:prstGeom>
          <a:noFill/>
        </p:spPr>
        <p:txBody>
          <a:bodyPr wrap="square">
            <a:spAutoFit/>
          </a:bodyPr>
          <a:lstStyle/>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Resolution time</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Cost to serve</a:t>
            </a:r>
          </a:p>
        </p:txBody>
      </p:sp>
      <p:sp>
        <p:nvSpPr>
          <p:cNvPr id="9" name="TextBox 8">
            <a:extLst>
              <a:ext uri="{FF2B5EF4-FFF2-40B4-BE49-F238E27FC236}">
                <a16:creationId xmlns:a16="http://schemas.microsoft.com/office/drawing/2014/main" id="{9271DCBA-8E09-76DD-0BE0-1BE3732157A6}"/>
              </a:ext>
            </a:extLst>
          </p:cNvPr>
          <p:cNvSpPr txBox="1"/>
          <p:nvPr/>
        </p:nvSpPr>
        <p:spPr>
          <a:xfrm>
            <a:off x="7249732" y="5318408"/>
            <a:ext cx="3659243" cy="402867"/>
          </a:xfrm>
          <a:prstGeom prst="rect">
            <a:avLst/>
          </a:prstGeom>
          <a:noFill/>
        </p:spPr>
        <p:txBody>
          <a:bodyPr wrap="square">
            <a:spAutoFit/>
          </a:bodyPr>
          <a:lstStyle/>
          <a:p>
            <a:pPr marL="130000" indent="-130000">
              <a:lnSpc>
                <a:spcPct val="112000"/>
              </a:lnSpc>
              <a:spcBef>
                <a:spcPts val="100"/>
              </a:spcBef>
              <a:buClr>
                <a:srgbClr val="7226E0"/>
              </a:buClr>
              <a:buFont typeface="Arial"/>
              <a:buChar char="•"/>
            </a:pPr>
            <a:r>
              <a:rPr lang="en-AU" sz="900">
                <a:solidFill>
                  <a:srgbClr val="46534E"/>
                </a:solidFill>
              </a:rPr>
              <a:t>Repeat / clarification rate</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Clear, understandable and personalised member communication</a:t>
            </a:r>
          </a:p>
        </p:txBody>
      </p:sp>
      <p:sp>
        <p:nvSpPr>
          <p:cNvPr id="11" name="Rail0">
            <a:extLst>
              <a:ext uri="{FF2B5EF4-FFF2-40B4-BE49-F238E27FC236}">
                <a16:creationId xmlns:a16="http://schemas.microsoft.com/office/drawing/2014/main" id="{54396E42-3500-382F-A707-C685CC86A3EF}"/>
              </a:ext>
            </a:extLst>
          </p:cNvPr>
          <p:cNvSpPr>
            <a:spLocks noGrp="1"/>
          </p:cNvSpPr>
          <p:nvPr/>
        </p:nvSpPr>
        <p:spPr>
          <a:xfrm>
            <a:off x="2059781" y="3036938"/>
            <a:ext cx="3619500" cy="176161"/>
          </a:xfrm>
          <a:prstGeom prst="rect">
            <a:avLst/>
          </a:prstGeom>
          <a:solidFill>
            <a:srgbClr val="7030A0"/>
          </a:solidFill>
          <a:ln>
            <a:noFill/>
          </a:ln>
        </p:spPr>
        <p:txBody>
          <a:bodyPr wrap="square" lIns="0" tIns="0" rIns="0" bIns="0" anchor="ctr">
            <a:noAutofit/>
          </a:bodyPr>
          <a:lstStyle/>
          <a:p>
            <a:pPr algn="ctr">
              <a:buNone/>
            </a:pPr>
            <a:r>
              <a:rPr lang="en-AU" sz="900" b="1" spc="40">
                <a:solidFill>
                  <a:schemeClr val="bg1"/>
                </a:solidFill>
                <a:latin typeface="Arial"/>
                <a:cs typeface="Arial"/>
              </a:rPr>
              <a:t>UNDERSTAND</a:t>
            </a:r>
          </a:p>
        </p:txBody>
      </p:sp>
      <p:sp>
        <p:nvSpPr>
          <p:cNvPr id="13" name="Rail1">
            <a:extLst>
              <a:ext uri="{FF2B5EF4-FFF2-40B4-BE49-F238E27FC236}">
                <a16:creationId xmlns:a16="http://schemas.microsoft.com/office/drawing/2014/main" id="{04D9A837-4617-0037-C676-CB5C808AB59B}"/>
              </a:ext>
            </a:extLst>
          </p:cNvPr>
          <p:cNvSpPr>
            <a:spLocks noGrp="1"/>
          </p:cNvSpPr>
          <p:nvPr/>
        </p:nvSpPr>
        <p:spPr>
          <a:xfrm>
            <a:off x="5740401" y="3036937"/>
            <a:ext cx="2686662" cy="176161"/>
          </a:xfrm>
          <a:prstGeom prst="rect">
            <a:avLst/>
          </a:prstGeom>
          <a:solidFill>
            <a:srgbClr val="6FA96B"/>
          </a:solidFill>
          <a:ln>
            <a:noFill/>
          </a:ln>
        </p:spPr>
        <p:txBody>
          <a:bodyPr wrap="square" lIns="0" tIns="0" rIns="0" bIns="0" anchor="ctr">
            <a:noAutofit/>
          </a:bodyPr>
          <a:lstStyle/>
          <a:p>
            <a:pPr algn="ctr">
              <a:buNone/>
            </a:pPr>
            <a:r>
              <a:rPr lang="en-AU" sz="900" b="1" spc="40">
                <a:solidFill>
                  <a:schemeClr val="bg1"/>
                </a:solidFill>
                <a:latin typeface="Arial"/>
                <a:cs typeface="Arial"/>
              </a:rPr>
              <a:t>DECIDE</a:t>
            </a:r>
          </a:p>
        </p:txBody>
      </p:sp>
      <p:sp>
        <p:nvSpPr>
          <p:cNvPr id="15" name="Rail2">
            <a:extLst>
              <a:ext uri="{FF2B5EF4-FFF2-40B4-BE49-F238E27FC236}">
                <a16:creationId xmlns:a16="http://schemas.microsoft.com/office/drawing/2014/main" id="{838435ED-0F29-A39E-3680-9F7316C6D48A}"/>
              </a:ext>
            </a:extLst>
          </p:cNvPr>
          <p:cNvSpPr>
            <a:spLocks noGrp="1"/>
          </p:cNvSpPr>
          <p:nvPr/>
        </p:nvSpPr>
        <p:spPr>
          <a:xfrm>
            <a:off x="8487085" y="3037758"/>
            <a:ext cx="3180919" cy="173606"/>
          </a:xfrm>
          <a:prstGeom prst="rect">
            <a:avLst/>
          </a:prstGeom>
          <a:solidFill>
            <a:srgbClr val="A81E5C"/>
          </a:solidFill>
          <a:ln>
            <a:noFill/>
          </a:ln>
        </p:spPr>
        <p:txBody>
          <a:bodyPr wrap="square" lIns="0" tIns="0" rIns="0" bIns="0" anchor="ctr">
            <a:noAutofit/>
          </a:bodyPr>
          <a:lstStyle/>
          <a:p>
            <a:pPr algn="ctr">
              <a:buNone/>
            </a:pPr>
            <a:r>
              <a:rPr lang="en-AU" sz="900" b="1" spc="40">
                <a:solidFill>
                  <a:schemeClr val="bg1"/>
                </a:solidFill>
                <a:latin typeface="Arial"/>
                <a:cs typeface="Arial"/>
              </a:rPr>
              <a:t>EXECUTE</a:t>
            </a:r>
          </a:p>
        </p:txBody>
      </p:sp>
      <p:pic>
        <p:nvPicPr>
          <p:cNvPr id="16" name="Picture 15">
            <a:extLst>
              <a:ext uri="{FF2B5EF4-FFF2-40B4-BE49-F238E27FC236}">
                <a16:creationId xmlns:a16="http://schemas.microsoft.com/office/drawing/2014/main" id="{3028A2B5-E4FB-96E9-D90F-BB52AD1B1EC8}"/>
              </a:ext>
            </a:extLst>
          </p:cNvPr>
          <p:cNvPicPr>
            <a:picLocks noChangeAspect="1"/>
          </p:cNvPicPr>
          <p:nvPr/>
        </p:nvPicPr>
        <p:blipFill>
          <a:blip r:embed="rId5"/>
          <a:stretch>
            <a:fillRect/>
          </a:stretch>
        </p:blipFill>
        <p:spPr>
          <a:xfrm>
            <a:off x="8890000" y="6451600"/>
            <a:ext cx="1139688" cy="203200"/>
          </a:xfrm>
          <a:prstGeom prst="rect">
            <a:avLst/>
          </a:prstGeom>
        </p:spPr>
      </p:pic>
      <p:pic>
        <p:nvPicPr>
          <p:cNvPr id="17" name="Picture 16">
            <a:extLst>
              <a:ext uri="{FF2B5EF4-FFF2-40B4-BE49-F238E27FC236}">
                <a16:creationId xmlns:a16="http://schemas.microsoft.com/office/drawing/2014/main" id="{8EFA96AF-AB5E-C051-04AA-D465928AE101}"/>
              </a:ext>
            </a:extLst>
          </p:cNvPr>
          <p:cNvPicPr>
            <a:picLocks noChangeAspect="1"/>
          </p:cNvPicPr>
          <p:nvPr/>
        </p:nvPicPr>
        <p:blipFill>
          <a:blip r:embed="rId6"/>
          <a:stretch>
            <a:fillRect/>
          </a:stretch>
        </p:blipFill>
        <p:spPr>
          <a:xfrm>
            <a:off x="10160000" y="6451600"/>
            <a:ext cx="519953" cy="203200"/>
          </a:xfrm>
          <a:prstGeom prst="rect">
            <a:avLst/>
          </a:prstGeom>
        </p:spPr>
      </p:pic>
      <p:sp>
        <p:nvSpPr>
          <p:cNvPr id="2" name="S104">
            <a:extLst>
              <a:ext uri="{FF2B5EF4-FFF2-40B4-BE49-F238E27FC236}">
                <a16:creationId xmlns:a16="http://schemas.microsoft.com/office/drawing/2014/main" id="{320C1F92-6259-26F5-FD00-5C104DC879BE}"/>
              </a:ext>
            </a:extLst>
          </p:cNvPr>
          <p:cNvSpPr/>
          <p:nvPr/>
        </p:nvSpPr>
        <p:spPr>
          <a:xfrm>
            <a:off x="523538" y="4745644"/>
            <a:ext cx="11144923" cy="179754"/>
          </a:xfrm>
          <a:prstGeom prst="rect">
            <a:avLst/>
          </a:prstGeom>
          <a:solidFill>
            <a:srgbClr val="7226E0">
              <a:alpha val="7000"/>
            </a:srgbClr>
          </a:solidFill>
          <a:ln/>
        </p:spPr>
        <p:txBody>
          <a:bodyPr wrap="square" lIns="76200" tIns="38100" rIns="76200" bIns="38100" anchor="t">
            <a:noAutofit/>
          </a:bodyPr>
          <a:lstStyle/>
          <a:p>
            <a:endParaRPr lang="en-AU"/>
          </a:p>
        </p:txBody>
      </p:sp>
      <p:sp>
        <p:nvSpPr>
          <p:cNvPr id="10" name="Rail2">
            <a:extLst>
              <a:ext uri="{FF2B5EF4-FFF2-40B4-BE49-F238E27FC236}">
                <a16:creationId xmlns:a16="http://schemas.microsoft.com/office/drawing/2014/main" id="{A688A361-5474-5B0B-ECC1-3B914CE49A67}"/>
              </a:ext>
            </a:extLst>
          </p:cNvPr>
          <p:cNvSpPr>
            <a:spLocks noGrp="1"/>
          </p:cNvSpPr>
          <p:nvPr/>
        </p:nvSpPr>
        <p:spPr>
          <a:xfrm>
            <a:off x="9412643" y="4758134"/>
            <a:ext cx="2255361" cy="159653"/>
          </a:xfrm>
          <a:prstGeom prst="rect">
            <a:avLst/>
          </a:prstGeom>
          <a:solidFill>
            <a:srgbClr val="6E7D78"/>
          </a:solidFill>
          <a:ln>
            <a:noFill/>
          </a:ln>
        </p:spPr>
        <p:txBody>
          <a:bodyPr wrap="square" lIns="0" tIns="0" rIns="0" bIns="0" anchor="ctr">
            <a:noAutofit/>
          </a:bodyPr>
          <a:lstStyle/>
          <a:p>
            <a:pPr algn="ctr">
              <a:buNone/>
            </a:pPr>
            <a:r>
              <a:rPr lang="en-AU" sz="900" b="1" spc="40">
                <a:solidFill>
                  <a:schemeClr val="bg1"/>
                </a:solidFill>
                <a:latin typeface="Arial"/>
                <a:cs typeface="Arial"/>
              </a:rPr>
              <a:t>LEARN </a:t>
            </a:r>
          </a:p>
        </p:txBody>
      </p:sp>
    </p:spTree>
    <p:extLst>
      <p:ext uri="{BB962C8B-B14F-4D97-AF65-F5344CB8AC3E}">
        <p14:creationId xmlns:p14="http://schemas.microsoft.com/office/powerpoint/2010/main" val="431537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D28A-EEF9-5B68-2E74-28B6AAF67E46}"/>
            </a:ext>
          </a:extLst>
        </p:cNvPr>
        <p:cNvGrpSpPr/>
        <p:nvPr/>
      </p:nvGrpSpPr>
      <p:grpSpPr>
        <a:xfrm>
          <a:off x="0" y="0"/>
          <a:ext cx="0" cy="0"/>
          <a:chOff x="0" y="0"/>
          <a:chExt cx="0" cy="0"/>
        </a:xfrm>
      </p:grpSpPr>
      <p:sp>
        <p:nvSpPr>
          <p:cNvPr id="101" name="S101">
            <a:extLst>
              <a:ext uri="{FF2B5EF4-FFF2-40B4-BE49-F238E27FC236}">
                <a16:creationId xmlns:a16="http://schemas.microsoft.com/office/drawing/2014/main" id="{BC830BC4-F195-79AD-8915-B57D9EAACBFF}"/>
              </a:ext>
            </a:extLst>
          </p:cNvPr>
          <p:cNvSpPr/>
          <p:nvPr/>
        </p:nvSpPr>
        <p:spPr>
          <a:xfrm>
            <a:off x="523081" y="304800"/>
            <a:ext cx="11150600" cy="228600"/>
          </a:xfrm>
          <a:prstGeom prst="rect">
            <a:avLst/>
          </a:prstGeom>
          <a:noFill/>
          <a:ln/>
        </p:spPr>
        <p:txBody>
          <a:bodyPr wrap="square" lIns="76200" tIns="38100" rIns="76200" bIns="38100" anchor="t">
            <a:noAutofit/>
          </a:bodyPr>
          <a:lstStyle/>
          <a:p>
            <a:r>
              <a:rPr lang="en-AU" sz="1050" b="1" kern="0" spc="200">
                <a:solidFill>
                  <a:srgbClr val="7226E0"/>
                </a:solidFill>
                <a:latin typeface="Arial" pitchFamily="34" charset="0"/>
                <a:cs typeface="Arial" pitchFamily="34" charset="0"/>
              </a:rPr>
              <a:t>FUTURE STATE  -  EARLY RELEASE (FINANCIAL HARDSHIP)</a:t>
            </a:r>
          </a:p>
        </p:txBody>
      </p:sp>
      <p:sp>
        <p:nvSpPr>
          <p:cNvPr id="102" name="S102">
            <a:extLst>
              <a:ext uri="{FF2B5EF4-FFF2-40B4-BE49-F238E27FC236}">
                <a16:creationId xmlns:a16="http://schemas.microsoft.com/office/drawing/2014/main" id="{28257CD7-D4F7-E2EB-A6E4-B69D73404717}"/>
              </a:ext>
            </a:extLst>
          </p:cNvPr>
          <p:cNvSpPr/>
          <p:nvPr/>
        </p:nvSpPr>
        <p:spPr>
          <a:xfrm>
            <a:off x="523081" y="533400"/>
            <a:ext cx="11150600" cy="508000"/>
          </a:xfrm>
          <a:prstGeom prst="rect">
            <a:avLst/>
          </a:prstGeom>
          <a:noFill/>
          <a:ln/>
        </p:spPr>
        <p:txBody>
          <a:bodyPr wrap="square" lIns="76200" tIns="38100" rIns="76200" bIns="38100" anchor="t">
            <a:noAutofit/>
          </a:bodyPr>
          <a:lstStyle/>
          <a:p>
            <a:pPr>
              <a:lnSpc>
                <a:spcPct val="96000"/>
              </a:lnSpc>
            </a:pPr>
            <a:r>
              <a:rPr lang="en-AU" sz="1750" b="1" kern="0">
                <a:solidFill>
                  <a:srgbClr val="1B2A41"/>
                </a:solidFill>
                <a:latin typeface="Arial" pitchFamily="34" charset="0"/>
                <a:cs typeface="Arial" pitchFamily="34" charset="0"/>
              </a:rPr>
              <a:t>Future-State Financial Hardship Journey: A coordinated AI-assisted process with human oversight for regulated decisions</a:t>
            </a:r>
          </a:p>
        </p:txBody>
      </p:sp>
      <p:sp>
        <p:nvSpPr>
          <p:cNvPr id="103" name="S103">
            <a:extLst>
              <a:ext uri="{FF2B5EF4-FFF2-40B4-BE49-F238E27FC236}">
                <a16:creationId xmlns:a16="http://schemas.microsoft.com/office/drawing/2014/main" id="{FD3D1885-E644-5043-0D5A-085BF649FEE3}"/>
              </a:ext>
            </a:extLst>
          </p:cNvPr>
          <p:cNvSpPr/>
          <p:nvPr/>
        </p:nvSpPr>
        <p:spPr>
          <a:xfrm>
            <a:off x="523081" y="1092200"/>
            <a:ext cx="11150600" cy="279400"/>
          </a:xfrm>
          <a:prstGeom prst="rect">
            <a:avLst/>
          </a:prstGeom>
          <a:noFill/>
          <a:ln/>
        </p:spPr>
        <p:txBody>
          <a:bodyPr wrap="square" lIns="76200" tIns="38100" rIns="76200" bIns="38100" anchor="t">
            <a:noAutofit/>
          </a:bodyPr>
          <a:lstStyle/>
          <a:p>
            <a:r>
              <a:rPr lang="en-AU" sz="1050" i="1" kern="0">
                <a:solidFill>
                  <a:srgbClr val="5C6B7A"/>
                </a:solidFill>
                <a:latin typeface="Arial" pitchFamily="34" charset="0"/>
                <a:cs typeface="Arial" pitchFamily="34" charset="0"/>
              </a:rPr>
              <a:t>AI agents work together across the inbound email lifecycle to understand requests, validate evidence, support decisions and reduce unnecessary member interactions. Human specialists remain responsible for regulated assessments and approval decisions.</a:t>
            </a:r>
          </a:p>
        </p:txBody>
      </p:sp>
      <p:sp>
        <p:nvSpPr>
          <p:cNvPr id="104" name="S104">
            <a:extLst>
              <a:ext uri="{FF2B5EF4-FFF2-40B4-BE49-F238E27FC236}">
                <a16:creationId xmlns:a16="http://schemas.microsoft.com/office/drawing/2014/main" id="{FD2495A5-6272-80C5-97B0-433A31831C88}"/>
              </a:ext>
            </a:extLst>
          </p:cNvPr>
          <p:cNvSpPr/>
          <p:nvPr/>
        </p:nvSpPr>
        <p:spPr>
          <a:xfrm>
            <a:off x="523081" y="3015378"/>
            <a:ext cx="11164889" cy="1688883"/>
          </a:xfrm>
          <a:prstGeom prst="rect">
            <a:avLst/>
          </a:prstGeom>
          <a:solidFill>
            <a:srgbClr val="7226E0">
              <a:alpha val="7000"/>
            </a:srgbClr>
          </a:solidFill>
          <a:ln/>
        </p:spPr>
        <p:txBody>
          <a:bodyPr wrap="square" lIns="76200" tIns="38100" rIns="76200" bIns="38100" anchor="t">
            <a:noAutofit/>
          </a:bodyPr>
          <a:lstStyle/>
          <a:p>
            <a:endParaRPr lang="en-AU"/>
          </a:p>
        </p:txBody>
      </p:sp>
      <p:sp>
        <p:nvSpPr>
          <p:cNvPr id="105" name="S105">
            <a:extLst>
              <a:ext uri="{FF2B5EF4-FFF2-40B4-BE49-F238E27FC236}">
                <a16:creationId xmlns:a16="http://schemas.microsoft.com/office/drawing/2014/main" id="{58165CAD-211B-C362-1F1C-DC9C185BA547}"/>
              </a:ext>
            </a:extLst>
          </p:cNvPr>
          <p:cNvSpPr/>
          <p:nvPr/>
        </p:nvSpPr>
        <p:spPr>
          <a:xfrm>
            <a:off x="523081" y="1600200"/>
            <a:ext cx="1320800" cy="330200"/>
          </a:xfrm>
          <a:prstGeom prst="rect">
            <a:avLst/>
          </a:prstGeom>
          <a:solidFill>
            <a:schemeClr val="bg1">
              <a:lumMod val="85000"/>
            </a:schemeClr>
          </a:solidFill>
          <a:ln>
            <a:noFill/>
          </a:ln>
        </p:spPr>
        <p:txBody>
          <a:bodyPr wrap="square" lIns="76200" tIns="38100" rIns="76200" bIns="38100" anchor="t">
            <a:noAutofit/>
          </a:bodyPr>
          <a:lstStyle/>
          <a:p>
            <a:r>
              <a:rPr lang="en-AU" sz="900" b="1" kern="0" spc="100">
                <a:solidFill>
                  <a:schemeClr val="bg1"/>
                </a:solidFill>
                <a:latin typeface="Arial" pitchFamily="34" charset="0"/>
                <a:cs typeface="Arial" pitchFamily="34" charset="0"/>
              </a:rPr>
              <a:t>MEMBER EXPERIENCE</a:t>
            </a:r>
          </a:p>
        </p:txBody>
      </p:sp>
      <p:sp>
        <p:nvSpPr>
          <p:cNvPr id="106" name="S106">
            <a:extLst>
              <a:ext uri="{FF2B5EF4-FFF2-40B4-BE49-F238E27FC236}">
                <a16:creationId xmlns:a16="http://schemas.microsoft.com/office/drawing/2014/main" id="{CFF215B7-D779-88DB-1FFE-A2918CBB4A86}"/>
              </a:ext>
            </a:extLst>
          </p:cNvPr>
          <p:cNvSpPr/>
          <p:nvPr/>
        </p:nvSpPr>
        <p:spPr>
          <a:xfrm>
            <a:off x="571682" y="3340185"/>
            <a:ext cx="1498600" cy="431800"/>
          </a:xfrm>
          <a:prstGeom prst="rect">
            <a:avLst/>
          </a:prstGeom>
          <a:noFill/>
          <a:ln/>
        </p:spPr>
        <p:txBody>
          <a:bodyPr wrap="square" lIns="76200" tIns="38100" rIns="76200" bIns="38100" anchor="t">
            <a:noAutofit/>
          </a:bodyPr>
          <a:lstStyle/>
          <a:p>
            <a:pPr>
              <a:lnSpc>
                <a:spcPct val="94000"/>
              </a:lnSpc>
            </a:pPr>
            <a:r>
              <a:rPr lang="en-AU" sz="900" b="1" kern="0" spc="80">
                <a:solidFill>
                  <a:srgbClr val="7226E0"/>
                </a:solidFill>
                <a:latin typeface="Arial" pitchFamily="34" charset="0"/>
                <a:cs typeface="Arial" pitchFamily="34" charset="0"/>
              </a:rPr>
              <a:t>AGENTIC</a:t>
            </a:r>
          </a:p>
          <a:p>
            <a:pPr>
              <a:lnSpc>
                <a:spcPct val="94000"/>
              </a:lnSpc>
            </a:pPr>
            <a:r>
              <a:rPr lang="en-AU" sz="900" b="1" kern="0" spc="80">
                <a:solidFill>
                  <a:srgbClr val="7226E0"/>
                </a:solidFill>
                <a:latin typeface="Arial" pitchFamily="34" charset="0"/>
                <a:cs typeface="Arial" pitchFamily="34" charset="0"/>
              </a:rPr>
              <a:t>OPERATIONS</a:t>
            </a:r>
          </a:p>
          <a:p>
            <a:pPr>
              <a:spcBef>
                <a:spcPts val="200"/>
              </a:spcBef>
            </a:pPr>
            <a:r>
              <a:rPr lang="en-AU" sz="700" i="1" kern="0">
                <a:solidFill>
                  <a:srgbClr val="5C6B7A"/>
                </a:solidFill>
                <a:latin typeface="Arial" pitchFamily="34" charset="0"/>
                <a:cs typeface="Arial" pitchFamily="34" charset="0"/>
              </a:rPr>
              <a:t>end-to-end, AI-assisted</a:t>
            </a:r>
          </a:p>
        </p:txBody>
      </p:sp>
      <p:sp>
        <p:nvSpPr>
          <p:cNvPr id="107" name="S107">
            <a:extLst>
              <a:ext uri="{FF2B5EF4-FFF2-40B4-BE49-F238E27FC236}">
                <a16:creationId xmlns:a16="http://schemas.microsoft.com/office/drawing/2014/main" id="{18E96575-BAED-B178-0F7E-14747E512A33}"/>
              </a:ext>
            </a:extLst>
          </p:cNvPr>
          <p:cNvSpPr/>
          <p:nvPr/>
        </p:nvSpPr>
        <p:spPr>
          <a:xfrm>
            <a:off x="5984081" y="1397000"/>
            <a:ext cx="114300" cy="114300"/>
          </a:xfrm>
          <a:prstGeom prst="ellipse">
            <a:avLst/>
          </a:prstGeom>
          <a:solidFill>
            <a:schemeClr val="bg1">
              <a:lumMod val="85000"/>
            </a:schemeClr>
          </a:solidFill>
          <a:ln>
            <a:noFill/>
          </a:ln>
        </p:spPr>
        <p:txBody>
          <a:bodyPr wrap="square" lIns="76200" tIns="38100" rIns="76200" bIns="38100" anchor="t">
            <a:noAutofit/>
          </a:bodyPr>
          <a:lstStyle/>
          <a:p>
            <a:endParaRPr lang="en-AU">
              <a:solidFill>
                <a:schemeClr val="bg1"/>
              </a:solidFill>
            </a:endParaRPr>
          </a:p>
        </p:txBody>
      </p:sp>
      <p:sp>
        <p:nvSpPr>
          <p:cNvPr id="108" name="S108">
            <a:extLst>
              <a:ext uri="{FF2B5EF4-FFF2-40B4-BE49-F238E27FC236}">
                <a16:creationId xmlns:a16="http://schemas.microsoft.com/office/drawing/2014/main" id="{ED9FEB6F-8A17-BD25-B10D-2963B7793DBF}"/>
              </a:ext>
            </a:extLst>
          </p:cNvPr>
          <p:cNvSpPr/>
          <p:nvPr/>
        </p:nvSpPr>
        <p:spPr>
          <a:xfrm>
            <a:off x="6136481" y="1358900"/>
            <a:ext cx="1524000" cy="177800"/>
          </a:xfrm>
          <a:prstGeom prst="rect">
            <a:avLst/>
          </a:prstGeom>
          <a:solidFill>
            <a:schemeClr val="bg1">
              <a:lumMod val="85000"/>
            </a:schemeClr>
          </a:solidFill>
          <a:ln>
            <a:noFill/>
          </a:ln>
        </p:spPr>
        <p:txBody>
          <a:bodyPr wrap="none" lIns="0" tIns="0" rIns="0" bIns="0" anchor="ctr">
            <a:noAutofit/>
          </a:bodyPr>
          <a:lstStyle/>
          <a:p>
            <a:r>
              <a:rPr lang="en-AU" sz="800" kern="0">
                <a:solidFill>
                  <a:schemeClr val="bg1"/>
                </a:solidFill>
                <a:latin typeface="Arial" pitchFamily="34" charset="0"/>
                <a:cs typeface="Arial" pitchFamily="34" charset="0"/>
              </a:rPr>
              <a:t>Primary Early Release journey</a:t>
            </a:r>
          </a:p>
        </p:txBody>
      </p:sp>
      <p:sp>
        <p:nvSpPr>
          <p:cNvPr id="109" name="S109">
            <a:extLst>
              <a:ext uri="{FF2B5EF4-FFF2-40B4-BE49-F238E27FC236}">
                <a16:creationId xmlns:a16="http://schemas.microsoft.com/office/drawing/2014/main" id="{62FE70B1-7490-9E0C-F15A-E1DBAF62AB30}"/>
              </a:ext>
            </a:extLst>
          </p:cNvPr>
          <p:cNvSpPr/>
          <p:nvPr/>
        </p:nvSpPr>
        <p:spPr>
          <a:xfrm>
            <a:off x="7635081" y="1397000"/>
            <a:ext cx="114300" cy="114300"/>
          </a:xfrm>
          <a:prstGeom prst="ellipse">
            <a:avLst/>
          </a:prstGeom>
          <a:solidFill>
            <a:schemeClr val="bg1">
              <a:lumMod val="85000"/>
            </a:schemeClr>
          </a:solidFill>
          <a:ln>
            <a:noFill/>
          </a:ln>
        </p:spPr>
        <p:txBody>
          <a:bodyPr wrap="square" lIns="76200" tIns="38100" rIns="76200" bIns="38100" anchor="t">
            <a:noAutofit/>
          </a:bodyPr>
          <a:lstStyle/>
          <a:p>
            <a:endParaRPr lang="en-AU">
              <a:solidFill>
                <a:schemeClr val="bg1"/>
              </a:solidFill>
            </a:endParaRPr>
          </a:p>
        </p:txBody>
      </p:sp>
      <p:sp>
        <p:nvSpPr>
          <p:cNvPr id="110" name="S110">
            <a:extLst>
              <a:ext uri="{FF2B5EF4-FFF2-40B4-BE49-F238E27FC236}">
                <a16:creationId xmlns:a16="http://schemas.microsoft.com/office/drawing/2014/main" id="{89F3EE41-015F-E626-9997-5D948DCFFBD7}"/>
              </a:ext>
            </a:extLst>
          </p:cNvPr>
          <p:cNvSpPr/>
          <p:nvPr/>
        </p:nvSpPr>
        <p:spPr>
          <a:xfrm>
            <a:off x="7787481" y="1358900"/>
            <a:ext cx="1905000" cy="177800"/>
          </a:xfrm>
          <a:prstGeom prst="rect">
            <a:avLst/>
          </a:prstGeom>
          <a:solidFill>
            <a:schemeClr val="bg1">
              <a:lumMod val="85000"/>
            </a:schemeClr>
          </a:solidFill>
          <a:ln>
            <a:noFill/>
          </a:ln>
        </p:spPr>
        <p:txBody>
          <a:bodyPr wrap="none" lIns="0" tIns="0" rIns="0" bIns="0" anchor="ctr">
            <a:noAutofit/>
          </a:bodyPr>
          <a:lstStyle/>
          <a:p>
            <a:r>
              <a:rPr lang="en-AU" sz="750" kern="0">
                <a:solidFill>
                  <a:schemeClr val="bg1"/>
                </a:solidFill>
                <a:latin typeface="Arial" pitchFamily="34" charset="0"/>
                <a:cs typeface="Arial" pitchFamily="34" charset="0"/>
              </a:rPr>
              <a:t>Parallel member enquiries</a:t>
            </a:r>
          </a:p>
        </p:txBody>
      </p:sp>
      <p:cxnSp>
        <p:nvCxnSpPr>
          <p:cNvPr id="111" name="L111">
            <a:extLst>
              <a:ext uri="{FF2B5EF4-FFF2-40B4-BE49-F238E27FC236}">
                <a16:creationId xmlns:a16="http://schemas.microsoft.com/office/drawing/2014/main" id="{0B7893F0-5E14-89D9-A939-F51336B88A9C}"/>
              </a:ext>
            </a:extLst>
          </p:cNvPr>
          <p:cNvCxnSpPr/>
          <p:nvPr/>
        </p:nvCxnSpPr>
        <p:spPr>
          <a:xfrm>
            <a:off x="2624931" y="1765300"/>
            <a:ext cx="7245350" cy="0"/>
          </a:xfrm>
          <a:prstGeom prst="line">
            <a:avLst/>
          </a:prstGeom>
          <a:noFill/>
          <a:ln w="9525">
            <a:noFill/>
            <a:prstDash val="solid"/>
            <a:tailEnd type="triangle" w="med" len="med"/>
          </a:ln>
        </p:spPr>
      </p:cxnSp>
      <p:sp>
        <p:nvSpPr>
          <p:cNvPr id="112" name="S112">
            <a:extLst>
              <a:ext uri="{FF2B5EF4-FFF2-40B4-BE49-F238E27FC236}">
                <a16:creationId xmlns:a16="http://schemas.microsoft.com/office/drawing/2014/main" id="{2506FC16-78D5-03EB-B8BA-607C6BE51C2A}"/>
              </a:ext>
            </a:extLst>
          </p:cNvPr>
          <p:cNvSpPr/>
          <p:nvPr/>
        </p:nvSpPr>
        <p:spPr>
          <a:xfrm>
            <a:off x="2459831" y="1600200"/>
            <a:ext cx="330200" cy="330200"/>
          </a:xfrm>
          <a:prstGeom prst="ellipse">
            <a:avLst/>
          </a:prstGeom>
          <a:solidFill>
            <a:schemeClr val="bg1">
              <a:lumMod val="85000"/>
            </a:schemeClr>
          </a:solidFill>
          <a:ln>
            <a:noFill/>
          </a:ln>
        </p:spPr>
        <p:txBody>
          <a:bodyPr wrap="none" lIns="0" tIns="0" rIns="0" bIns="0" anchor="ctr">
            <a:noAutofit/>
          </a:bodyPr>
          <a:lstStyle/>
          <a:p>
            <a:pPr algn="ctr"/>
            <a:r>
              <a:rPr lang="en-AU" sz="1100" b="1" kern="0">
                <a:solidFill>
                  <a:schemeClr val="bg1"/>
                </a:solidFill>
                <a:latin typeface="Arial" pitchFamily="34" charset="0"/>
                <a:cs typeface="Arial" pitchFamily="34" charset="0"/>
              </a:rPr>
              <a:t>1</a:t>
            </a:r>
          </a:p>
        </p:txBody>
      </p:sp>
      <p:sp>
        <p:nvSpPr>
          <p:cNvPr id="113" name="S113">
            <a:extLst>
              <a:ext uri="{FF2B5EF4-FFF2-40B4-BE49-F238E27FC236}">
                <a16:creationId xmlns:a16="http://schemas.microsoft.com/office/drawing/2014/main" id="{AF6C1147-53B4-23E7-7445-AA0250ED383B}"/>
              </a:ext>
            </a:extLst>
          </p:cNvPr>
          <p:cNvSpPr/>
          <p:nvPr/>
        </p:nvSpPr>
        <p:spPr>
          <a:xfrm>
            <a:off x="2059781" y="1955800"/>
            <a:ext cx="1130300" cy="330200"/>
          </a:xfrm>
          <a:prstGeom prst="rect">
            <a:avLst/>
          </a:prstGeom>
          <a:solidFill>
            <a:schemeClr val="bg1">
              <a:lumMod val="85000"/>
            </a:schemeClr>
          </a:solidFill>
          <a:ln>
            <a:noFill/>
          </a:ln>
        </p:spPr>
        <p:txBody>
          <a:bodyPr wrap="square" lIns="25400" tIns="38100" rIns="25400" bIns="38100" anchor="t">
            <a:noAutofit/>
          </a:bodyPr>
          <a:lstStyle/>
          <a:p>
            <a:pPr algn="ctr">
              <a:lnSpc>
                <a:spcPct val="96000"/>
              </a:lnSpc>
            </a:pPr>
            <a:r>
              <a:rPr lang="en-AU" sz="750" b="1" kern="0">
                <a:solidFill>
                  <a:schemeClr val="bg1"/>
                </a:solidFill>
                <a:latin typeface="Arial" pitchFamily="34" charset="0"/>
                <a:cs typeface="Arial" pitchFamily="34" charset="0"/>
              </a:rPr>
              <a:t>Needs financial assistance</a:t>
            </a:r>
          </a:p>
        </p:txBody>
      </p:sp>
      <p:sp>
        <p:nvSpPr>
          <p:cNvPr id="114" name="S114">
            <a:extLst>
              <a:ext uri="{FF2B5EF4-FFF2-40B4-BE49-F238E27FC236}">
                <a16:creationId xmlns:a16="http://schemas.microsoft.com/office/drawing/2014/main" id="{DC0BA24C-8E9F-8366-6698-B7874BA1097D}"/>
              </a:ext>
            </a:extLst>
          </p:cNvPr>
          <p:cNvSpPr/>
          <p:nvPr/>
        </p:nvSpPr>
        <p:spPr>
          <a:xfrm>
            <a:off x="3666331" y="1600200"/>
            <a:ext cx="330200" cy="330200"/>
          </a:xfrm>
          <a:prstGeom prst="ellipse">
            <a:avLst/>
          </a:prstGeom>
          <a:solidFill>
            <a:schemeClr val="bg1">
              <a:lumMod val="85000"/>
            </a:schemeClr>
          </a:solidFill>
          <a:ln>
            <a:noFill/>
          </a:ln>
        </p:spPr>
        <p:txBody>
          <a:bodyPr wrap="none" lIns="0" tIns="0" rIns="0" bIns="0" anchor="ctr">
            <a:noAutofit/>
          </a:bodyPr>
          <a:lstStyle/>
          <a:p>
            <a:pPr algn="ctr"/>
            <a:r>
              <a:rPr lang="en-AU" sz="1100" b="1" kern="0">
                <a:solidFill>
                  <a:schemeClr val="bg1"/>
                </a:solidFill>
                <a:latin typeface="Arial" pitchFamily="34" charset="0"/>
                <a:cs typeface="Arial" pitchFamily="34" charset="0"/>
              </a:rPr>
              <a:t>2</a:t>
            </a:r>
          </a:p>
        </p:txBody>
      </p:sp>
      <p:sp>
        <p:nvSpPr>
          <p:cNvPr id="115" name="S115">
            <a:extLst>
              <a:ext uri="{FF2B5EF4-FFF2-40B4-BE49-F238E27FC236}">
                <a16:creationId xmlns:a16="http://schemas.microsoft.com/office/drawing/2014/main" id="{9BD3089C-DA68-D946-8992-966606C2228E}"/>
              </a:ext>
            </a:extLst>
          </p:cNvPr>
          <p:cNvSpPr/>
          <p:nvPr/>
        </p:nvSpPr>
        <p:spPr>
          <a:xfrm>
            <a:off x="3266281" y="1955800"/>
            <a:ext cx="1130300" cy="330200"/>
          </a:xfrm>
          <a:prstGeom prst="rect">
            <a:avLst/>
          </a:prstGeom>
          <a:solidFill>
            <a:schemeClr val="bg1">
              <a:lumMod val="85000"/>
            </a:schemeClr>
          </a:solidFill>
          <a:ln>
            <a:noFill/>
          </a:ln>
        </p:spPr>
        <p:txBody>
          <a:bodyPr wrap="square" lIns="25400" tIns="38100" rIns="25400" bIns="38100" anchor="t">
            <a:noAutofit/>
          </a:bodyPr>
          <a:lstStyle/>
          <a:p>
            <a:pPr algn="ctr">
              <a:lnSpc>
                <a:spcPct val="96000"/>
              </a:lnSpc>
            </a:pPr>
            <a:r>
              <a:rPr lang="en-AU" sz="750" b="1" kern="0">
                <a:solidFill>
                  <a:schemeClr val="bg1"/>
                </a:solidFill>
                <a:latin typeface="Arial" pitchFamily="34" charset="0"/>
                <a:cs typeface="Arial" pitchFamily="34" charset="0"/>
              </a:rPr>
              <a:t>Seeks information</a:t>
            </a:r>
          </a:p>
        </p:txBody>
      </p:sp>
      <p:sp>
        <p:nvSpPr>
          <p:cNvPr id="116" name="S116">
            <a:extLst>
              <a:ext uri="{FF2B5EF4-FFF2-40B4-BE49-F238E27FC236}">
                <a16:creationId xmlns:a16="http://schemas.microsoft.com/office/drawing/2014/main" id="{56F5D36F-EB5A-C3EC-500D-48AA122C8278}"/>
              </a:ext>
            </a:extLst>
          </p:cNvPr>
          <p:cNvSpPr/>
          <p:nvPr/>
        </p:nvSpPr>
        <p:spPr>
          <a:xfrm>
            <a:off x="4872831" y="1600200"/>
            <a:ext cx="330200" cy="330200"/>
          </a:xfrm>
          <a:prstGeom prst="ellipse">
            <a:avLst/>
          </a:prstGeom>
          <a:solidFill>
            <a:schemeClr val="bg1">
              <a:lumMod val="85000"/>
            </a:schemeClr>
          </a:solidFill>
          <a:ln>
            <a:noFill/>
          </a:ln>
        </p:spPr>
        <p:txBody>
          <a:bodyPr wrap="none" lIns="0" tIns="0" rIns="0" bIns="0" anchor="ctr">
            <a:noAutofit/>
          </a:bodyPr>
          <a:lstStyle/>
          <a:p>
            <a:pPr algn="ctr"/>
            <a:r>
              <a:rPr lang="en-AU" sz="1100" b="1" kern="0">
                <a:solidFill>
                  <a:schemeClr val="bg1"/>
                </a:solidFill>
                <a:latin typeface="Arial" pitchFamily="34" charset="0"/>
                <a:cs typeface="Arial" pitchFamily="34" charset="0"/>
              </a:rPr>
              <a:t>3</a:t>
            </a:r>
          </a:p>
        </p:txBody>
      </p:sp>
      <p:sp>
        <p:nvSpPr>
          <p:cNvPr id="117" name="S117">
            <a:extLst>
              <a:ext uri="{FF2B5EF4-FFF2-40B4-BE49-F238E27FC236}">
                <a16:creationId xmlns:a16="http://schemas.microsoft.com/office/drawing/2014/main" id="{F05A9809-9C3A-419F-1F0D-98E60BA64872}"/>
              </a:ext>
            </a:extLst>
          </p:cNvPr>
          <p:cNvSpPr/>
          <p:nvPr/>
        </p:nvSpPr>
        <p:spPr>
          <a:xfrm>
            <a:off x="4472781" y="1955800"/>
            <a:ext cx="1130300" cy="330200"/>
          </a:xfrm>
          <a:prstGeom prst="rect">
            <a:avLst/>
          </a:prstGeom>
          <a:solidFill>
            <a:schemeClr val="bg1">
              <a:lumMod val="85000"/>
            </a:schemeClr>
          </a:solidFill>
          <a:ln>
            <a:noFill/>
          </a:ln>
        </p:spPr>
        <p:txBody>
          <a:bodyPr wrap="square" lIns="25400" tIns="38100" rIns="25400" bIns="38100" anchor="t">
            <a:noAutofit/>
          </a:bodyPr>
          <a:lstStyle/>
          <a:p>
            <a:pPr algn="ctr">
              <a:lnSpc>
                <a:spcPct val="96000"/>
              </a:lnSpc>
            </a:pPr>
            <a:r>
              <a:rPr lang="en-AU" sz="750" b="1" kern="0">
                <a:solidFill>
                  <a:schemeClr val="bg1"/>
                </a:solidFill>
                <a:latin typeface="Arial" pitchFamily="34" charset="0"/>
                <a:cs typeface="Arial" pitchFamily="34" charset="0"/>
              </a:rPr>
              <a:t>Submits enquiry / documentation</a:t>
            </a:r>
          </a:p>
        </p:txBody>
      </p:sp>
      <p:sp>
        <p:nvSpPr>
          <p:cNvPr id="118" name="S118">
            <a:extLst>
              <a:ext uri="{FF2B5EF4-FFF2-40B4-BE49-F238E27FC236}">
                <a16:creationId xmlns:a16="http://schemas.microsoft.com/office/drawing/2014/main" id="{2EBB27DE-70AC-04CC-6E22-2F50237521CE}"/>
              </a:ext>
            </a:extLst>
          </p:cNvPr>
          <p:cNvSpPr/>
          <p:nvPr/>
        </p:nvSpPr>
        <p:spPr>
          <a:xfrm>
            <a:off x="6079331" y="1600200"/>
            <a:ext cx="330200" cy="330200"/>
          </a:xfrm>
          <a:prstGeom prst="ellipse">
            <a:avLst/>
          </a:prstGeom>
          <a:solidFill>
            <a:schemeClr val="bg1">
              <a:lumMod val="85000"/>
            </a:schemeClr>
          </a:solidFill>
          <a:ln>
            <a:noFill/>
          </a:ln>
        </p:spPr>
        <p:txBody>
          <a:bodyPr wrap="none" lIns="0" tIns="0" rIns="0" bIns="0" anchor="ctr">
            <a:noAutofit/>
          </a:bodyPr>
          <a:lstStyle/>
          <a:p>
            <a:pPr algn="ctr"/>
            <a:r>
              <a:rPr lang="en-AU" sz="1100" b="1" kern="0">
                <a:solidFill>
                  <a:schemeClr val="bg1"/>
                </a:solidFill>
                <a:latin typeface="Arial" pitchFamily="34" charset="0"/>
                <a:cs typeface="Arial" pitchFamily="34" charset="0"/>
              </a:rPr>
              <a:t>4</a:t>
            </a:r>
          </a:p>
        </p:txBody>
      </p:sp>
      <p:sp>
        <p:nvSpPr>
          <p:cNvPr id="119" name="S119">
            <a:extLst>
              <a:ext uri="{FF2B5EF4-FFF2-40B4-BE49-F238E27FC236}">
                <a16:creationId xmlns:a16="http://schemas.microsoft.com/office/drawing/2014/main" id="{6EC84126-1CDA-BBC0-CD27-3CE0DD7F7FD0}"/>
              </a:ext>
            </a:extLst>
          </p:cNvPr>
          <p:cNvSpPr/>
          <p:nvPr/>
        </p:nvSpPr>
        <p:spPr>
          <a:xfrm>
            <a:off x="5679281" y="1955800"/>
            <a:ext cx="1130300" cy="330200"/>
          </a:xfrm>
          <a:prstGeom prst="rect">
            <a:avLst/>
          </a:prstGeom>
          <a:solidFill>
            <a:schemeClr val="bg1">
              <a:lumMod val="85000"/>
            </a:schemeClr>
          </a:solidFill>
          <a:ln>
            <a:noFill/>
          </a:ln>
        </p:spPr>
        <p:txBody>
          <a:bodyPr wrap="square" lIns="25400" tIns="38100" rIns="25400" bIns="38100" anchor="t">
            <a:noAutofit/>
          </a:bodyPr>
          <a:lstStyle/>
          <a:p>
            <a:pPr algn="ctr">
              <a:lnSpc>
                <a:spcPct val="96000"/>
              </a:lnSpc>
            </a:pPr>
            <a:r>
              <a:rPr lang="en-AU" sz="750" b="1" kern="0">
                <a:solidFill>
                  <a:schemeClr val="bg1"/>
                </a:solidFill>
                <a:latin typeface="Arial" pitchFamily="34" charset="0"/>
                <a:cs typeface="Arial" pitchFamily="34" charset="0"/>
              </a:rPr>
              <a:t>Receives acknowledgement</a:t>
            </a:r>
          </a:p>
        </p:txBody>
      </p:sp>
      <p:sp>
        <p:nvSpPr>
          <p:cNvPr id="120" name="S120">
            <a:extLst>
              <a:ext uri="{FF2B5EF4-FFF2-40B4-BE49-F238E27FC236}">
                <a16:creationId xmlns:a16="http://schemas.microsoft.com/office/drawing/2014/main" id="{3A456CF9-0DB1-0FCE-0087-457BA6C883DB}"/>
              </a:ext>
            </a:extLst>
          </p:cNvPr>
          <p:cNvSpPr/>
          <p:nvPr/>
        </p:nvSpPr>
        <p:spPr>
          <a:xfrm>
            <a:off x="7285831" y="1600200"/>
            <a:ext cx="330200" cy="330200"/>
          </a:xfrm>
          <a:prstGeom prst="ellipse">
            <a:avLst/>
          </a:prstGeom>
          <a:solidFill>
            <a:schemeClr val="bg1">
              <a:lumMod val="85000"/>
            </a:schemeClr>
          </a:solidFill>
          <a:ln>
            <a:noFill/>
          </a:ln>
        </p:spPr>
        <p:txBody>
          <a:bodyPr wrap="none" lIns="0" tIns="0" rIns="0" bIns="0" anchor="ctr">
            <a:noAutofit/>
          </a:bodyPr>
          <a:lstStyle/>
          <a:p>
            <a:pPr algn="ctr"/>
            <a:r>
              <a:rPr lang="en-AU" sz="1100" b="1" kern="0">
                <a:solidFill>
                  <a:schemeClr val="bg1"/>
                </a:solidFill>
                <a:latin typeface="Arial" pitchFamily="34" charset="0"/>
                <a:cs typeface="Arial" pitchFamily="34" charset="0"/>
              </a:rPr>
              <a:t>5</a:t>
            </a:r>
          </a:p>
        </p:txBody>
      </p:sp>
      <p:sp>
        <p:nvSpPr>
          <p:cNvPr id="121" name="S121">
            <a:extLst>
              <a:ext uri="{FF2B5EF4-FFF2-40B4-BE49-F238E27FC236}">
                <a16:creationId xmlns:a16="http://schemas.microsoft.com/office/drawing/2014/main" id="{9A7A9CB9-4A4F-32EF-6C2F-62995A5B989D}"/>
              </a:ext>
            </a:extLst>
          </p:cNvPr>
          <p:cNvSpPr/>
          <p:nvPr/>
        </p:nvSpPr>
        <p:spPr>
          <a:xfrm>
            <a:off x="6885781" y="1955800"/>
            <a:ext cx="1130300" cy="330200"/>
          </a:xfrm>
          <a:prstGeom prst="rect">
            <a:avLst/>
          </a:prstGeom>
          <a:solidFill>
            <a:schemeClr val="bg1">
              <a:lumMod val="85000"/>
            </a:schemeClr>
          </a:solidFill>
          <a:ln>
            <a:noFill/>
          </a:ln>
        </p:spPr>
        <p:txBody>
          <a:bodyPr wrap="square" lIns="25400" tIns="38100" rIns="25400" bIns="38100" anchor="t">
            <a:noAutofit/>
          </a:bodyPr>
          <a:lstStyle/>
          <a:p>
            <a:pPr algn="ctr">
              <a:lnSpc>
                <a:spcPct val="96000"/>
              </a:lnSpc>
            </a:pPr>
            <a:r>
              <a:rPr lang="en-AU" sz="750" b="1" kern="0">
                <a:solidFill>
                  <a:schemeClr val="bg1"/>
                </a:solidFill>
                <a:latin typeface="Arial" pitchFamily="34" charset="0"/>
                <a:cs typeface="Arial" pitchFamily="34" charset="0"/>
              </a:rPr>
              <a:t>Receives updates during assessment</a:t>
            </a:r>
          </a:p>
        </p:txBody>
      </p:sp>
      <p:sp>
        <p:nvSpPr>
          <p:cNvPr id="122" name="S122">
            <a:extLst>
              <a:ext uri="{FF2B5EF4-FFF2-40B4-BE49-F238E27FC236}">
                <a16:creationId xmlns:a16="http://schemas.microsoft.com/office/drawing/2014/main" id="{A551EFD0-7408-D252-31B7-A448D33ED15D}"/>
              </a:ext>
            </a:extLst>
          </p:cNvPr>
          <p:cNvSpPr/>
          <p:nvPr/>
        </p:nvSpPr>
        <p:spPr>
          <a:xfrm>
            <a:off x="8492331" y="1600200"/>
            <a:ext cx="330200" cy="330200"/>
          </a:xfrm>
          <a:prstGeom prst="ellipse">
            <a:avLst/>
          </a:prstGeom>
          <a:solidFill>
            <a:schemeClr val="bg1">
              <a:lumMod val="85000"/>
            </a:schemeClr>
          </a:solidFill>
          <a:ln>
            <a:noFill/>
          </a:ln>
        </p:spPr>
        <p:txBody>
          <a:bodyPr wrap="none" lIns="0" tIns="0" rIns="0" bIns="0" anchor="ctr">
            <a:noAutofit/>
          </a:bodyPr>
          <a:lstStyle/>
          <a:p>
            <a:pPr algn="ctr"/>
            <a:r>
              <a:rPr lang="en-AU" sz="1100" b="1" kern="0">
                <a:solidFill>
                  <a:schemeClr val="bg1"/>
                </a:solidFill>
                <a:latin typeface="Arial" pitchFamily="34" charset="0"/>
                <a:cs typeface="Arial" pitchFamily="34" charset="0"/>
              </a:rPr>
              <a:t>6</a:t>
            </a:r>
          </a:p>
        </p:txBody>
      </p:sp>
      <p:sp>
        <p:nvSpPr>
          <p:cNvPr id="123" name="S123">
            <a:extLst>
              <a:ext uri="{FF2B5EF4-FFF2-40B4-BE49-F238E27FC236}">
                <a16:creationId xmlns:a16="http://schemas.microsoft.com/office/drawing/2014/main" id="{E521ED35-90BE-D03B-366F-4D8691379298}"/>
              </a:ext>
            </a:extLst>
          </p:cNvPr>
          <p:cNvSpPr/>
          <p:nvPr/>
        </p:nvSpPr>
        <p:spPr>
          <a:xfrm>
            <a:off x="8092281" y="1955800"/>
            <a:ext cx="1130300" cy="330200"/>
          </a:xfrm>
          <a:prstGeom prst="rect">
            <a:avLst/>
          </a:prstGeom>
          <a:solidFill>
            <a:schemeClr val="bg1">
              <a:lumMod val="85000"/>
            </a:schemeClr>
          </a:solidFill>
          <a:ln>
            <a:noFill/>
          </a:ln>
        </p:spPr>
        <p:txBody>
          <a:bodyPr wrap="square" lIns="25400" tIns="38100" rIns="25400" bIns="38100" anchor="t">
            <a:noAutofit/>
          </a:bodyPr>
          <a:lstStyle/>
          <a:p>
            <a:pPr algn="ctr">
              <a:lnSpc>
                <a:spcPct val="96000"/>
              </a:lnSpc>
            </a:pPr>
            <a:r>
              <a:rPr lang="en-AU" sz="750" b="1" kern="0">
                <a:solidFill>
                  <a:schemeClr val="bg1"/>
                </a:solidFill>
                <a:latin typeface="Arial" pitchFamily="34" charset="0"/>
                <a:cs typeface="Arial" pitchFamily="34" charset="0"/>
              </a:rPr>
              <a:t>Receives decision</a:t>
            </a:r>
          </a:p>
        </p:txBody>
      </p:sp>
      <p:sp>
        <p:nvSpPr>
          <p:cNvPr id="124" name="S124">
            <a:extLst>
              <a:ext uri="{FF2B5EF4-FFF2-40B4-BE49-F238E27FC236}">
                <a16:creationId xmlns:a16="http://schemas.microsoft.com/office/drawing/2014/main" id="{BAFE3095-C94D-567D-ECC2-5A0EB75378A8}"/>
              </a:ext>
            </a:extLst>
          </p:cNvPr>
          <p:cNvSpPr/>
          <p:nvPr/>
        </p:nvSpPr>
        <p:spPr>
          <a:xfrm>
            <a:off x="9698831" y="1600200"/>
            <a:ext cx="330200" cy="330200"/>
          </a:xfrm>
          <a:prstGeom prst="ellipse">
            <a:avLst/>
          </a:prstGeom>
          <a:solidFill>
            <a:schemeClr val="bg1">
              <a:lumMod val="85000"/>
            </a:schemeClr>
          </a:solidFill>
          <a:ln>
            <a:noFill/>
          </a:ln>
        </p:spPr>
        <p:txBody>
          <a:bodyPr wrap="none" lIns="0" tIns="0" rIns="0" bIns="0" anchor="ctr">
            <a:noAutofit/>
          </a:bodyPr>
          <a:lstStyle/>
          <a:p>
            <a:pPr algn="ctr"/>
            <a:r>
              <a:rPr lang="en-AU" sz="1100" b="1" kern="0">
                <a:solidFill>
                  <a:schemeClr val="bg1"/>
                </a:solidFill>
                <a:latin typeface="Arial" pitchFamily="34" charset="0"/>
                <a:cs typeface="Arial" pitchFamily="34" charset="0"/>
              </a:rPr>
              <a:t>7</a:t>
            </a:r>
          </a:p>
        </p:txBody>
      </p:sp>
      <p:sp>
        <p:nvSpPr>
          <p:cNvPr id="125" name="S125">
            <a:extLst>
              <a:ext uri="{FF2B5EF4-FFF2-40B4-BE49-F238E27FC236}">
                <a16:creationId xmlns:a16="http://schemas.microsoft.com/office/drawing/2014/main" id="{31B06F3E-F15B-35D0-D8D7-F976C38D0D93}"/>
              </a:ext>
            </a:extLst>
          </p:cNvPr>
          <p:cNvSpPr/>
          <p:nvPr/>
        </p:nvSpPr>
        <p:spPr>
          <a:xfrm>
            <a:off x="9298781" y="1955800"/>
            <a:ext cx="1130300" cy="330200"/>
          </a:xfrm>
          <a:prstGeom prst="rect">
            <a:avLst/>
          </a:prstGeom>
          <a:solidFill>
            <a:schemeClr val="bg1">
              <a:lumMod val="85000"/>
            </a:schemeClr>
          </a:solidFill>
          <a:ln>
            <a:noFill/>
          </a:ln>
        </p:spPr>
        <p:txBody>
          <a:bodyPr wrap="square" lIns="25400" tIns="38100" rIns="25400" bIns="38100" anchor="t">
            <a:noAutofit/>
          </a:bodyPr>
          <a:lstStyle/>
          <a:p>
            <a:pPr algn="ctr">
              <a:lnSpc>
                <a:spcPct val="96000"/>
              </a:lnSpc>
            </a:pPr>
            <a:r>
              <a:rPr lang="en-AU" sz="750" b="1" kern="0">
                <a:solidFill>
                  <a:schemeClr val="bg1"/>
                </a:solidFill>
                <a:latin typeface="Arial" pitchFamily="34" charset="0"/>
                <a:cs typeface="Arial" pitchFamily="34" charset="0"/>
              </a:rPr>
              <a:t>Case completed</a:t>
            </a:r>
          </a:p>
        </p:txBody>
      </p:sp>
      <p:sp>
        <p:nvSpPr>
          <p:cNvPr id="144" name="S144">
            <a:extLst>
              <a:ext uri="{FF2B5EF4-FFF2-40B4-BE49-F238E27FC236}">
                <a16:creationId xmlns:a16="http://schemas.microsoft.com/office/drawing/2014/main" id="{FAD41865-3BDA-3A59-CBD7-CF41232247B5}"/>
              </a:ext>
            </a:extLst>
          </p:cNvPr>
          <p:cNvSpPr/>
          <p:nvPr/>
        </p:nvSpPr>
        <p:spPr>
          <a:xfrm>
            <a:off x="523081" y="2336800"/>
            <a:ext cx="1397000" cy="330200"/>
          </a:xfrm>
          <a:prstGeom prst="rect">
            <a:avLst/>
          </a:prstGeom>
          <a:solidFill>
            <a:schemeClr val="bg1">
              <a:lumMod val="85000"/>
            </a:schemeClr>
          </a:solidFill>
          <a:ln>
            <a:noFill/>
          </a:ln>
        </p:spPr>
        <p:txBody>
          <a:bodyPr wrap="square" lIns="76200" tIns="38100" rIns="76200" bIns="38100" anchor="t">
            <a:noAutofit/>
          </a:bodyPr>
          <a:lstStyle/>
          <a:p>
            <a:pPr>
              <a:lnSpc>
                <a:spcPct val="96000"/>
              </a:lnSpc>
            </a:pPr>
            <a:r>
              <a:rPr lang="en-AU" sz="800" b="1" kern="0" spc="80">
                <a:solidFill>
                  <a:schemeClr val="bg1"/>
                </a:solidFill>
                <a:latin typeface="Arial" pitchFamily="34" charset="0"/>
                <a:cs typeface="Arial" pitchFamily="34" charset="0"/>
              </a:rPr>
              <a:t>PARALLEL ENQUIRIES</a:t>
            </a:r>
          </a:p>
          <a:p>
            <a:pPr>
              <a:spcBef>
                <a:spcPts val="200"/>
              </a:spcBef>
            </a:pPr>
            <a:r>
              <a:rPr lang="en-AU" sz="750" i="1" kern="0">
                <a:solidFill>
                  <a:schemeClr val="bg1"/>
                </a:solidFill>
                <a:latin typeface="Arial" pitchFamily="34" charset="0"/>
                <a:cs typeface="Arial" pitchFamily="34" charset="0"/>
              </a:rPr>
              <a:t>fewer, proactive interactions</a:t>
            </a:r>
          </a:p>
        </p:txBody>
      </p:sp>
      <p:cxnSp>
        <p:nvCxnSpPr>
          <p:cNvPr id="146" name="L146">
            <a:extLst>
              <a:ext uri="{FF2B5EF4-FFF2-40B4-BE49-F238E27FC236}">
                <a16:creationId xmlns:a16="http://schemas.microsoft.com/office/drawing/2014/main" id="{3CE442E3-6BD7-B56B-0EC8-D48DF5028E19}"/>
              </a:ext>
            </a:extLst>
          </p:cNvPr>
          <p:cNvCxnSpPr/>
          <p:nvPr/>
        </p:nvCxnSpPr>
        <p:spPr>
          <a:xfrm>
            <a:off x="2974181" y="2413000"/>
            <a:ext cx="0" cy="76200"/>
          </a:xfrm>
          <a:prstGeom prst="line">
            <a:avLst/>
          </a:prstGeom>
          <a:noFill/>
          <a:ln w="6350">
            <a:noFill/>
            <a:prstDash val="dash"/>
            <a:tailEnd type="triangle" w="med" len="med"/>
          </a:ln>
        </p:spPr>
      </p:cxnSp>
      <p:cxnSp>
        <p:nvCxnSpPr>
          <p:cNvPr id="147" name="L147">
            <a:extLst>
              <a:ext uri="{FF2B5EF4-FFF2-40B4-BE49-F238E27FC236}">
                <a16:creationId xmlns:a16="http://schemas.microsoft.com/office/drawing/2014/main" id="{B871EBC2-B19A-A516-A048-4C93C1B4FA6A}"/>
              </a:ext>
            </a:extLst>
          </p:cNvPr>
          <p:cNvCxnSpPr/>
          <p:nvPr/>
        </p:nvCxnSpPr>
        <p:spPr>
          <a:xfrm>
            <a:off x="4980781" y="2413000"/>
            <a:ext cx="0" cy="76200"/>
          </a:xfrm>
          <a:prstGeom prst="line">
            <a:avLst/>
          </a:prstGeom>
          <a:noFill/>
          <a:ln w="6350">
            <a:noFill/>
            <a:prstDash val="dash"/>
            <a:tailEnd type="triangle" w="med" len="med"/>
          </a:ln>
        </p:spPr>
      </p:cxnSp>
      <p:cxnSp>
        <p:nvCxnSpPr>
          <p:cNvPr id="148" name="L148">
            <a:extLst>
              <a:ext uri="{FF2B5EF4-FFF2-40B4-BE49-F238E27FC236}">
                <a16:creationId xmlns:a16="http://schemas.microsoft.com/office/drawing/2014/main" id="{B8DDC692-62BA-1276-2BC0-6FFB730010E4}"/>
              </a:ext>
            </a:extLst>
          </p:cNvPr>
          <p:cNvCxnSpPr/>
          <p:nvPr/>
        </p:nvCxnSpPr>
        <p:spPr>
          <a:xfrm>
            <a:off x="6987381" y="2413000"/>
            <a:ext cx="0" cy="76200"/>
          </a:xfrm>
          <a:prstGeom prst="line">
            <a:avLst/>
          </a:prstGeom>
          <a:noFill/>
          <a:ln w="6350">
            <a:noFill/>
            <a:prstDash val="dash"/>
            <a:tailEnd type="triangle" w="med" len="med"/>
          </a:ln>
        </p:spPr>
      </p:cxnSp>
      <p:sp>
        <p:nvSpPr>
          <p:cNvPr id="150" name="S150">
            <a:extLst>
              <a:ext uri="{FF2B5EF4-FFF2-40B4-BE49-F238E27FC236}">
                <a16:creationId xmlns:a16="http://schemas.microsoft.com/office/drawing/2014/main" id="{345D46C0-964D-1BB7-775B-4AAFB5BF22F5}"/>
              </a:ext>
            </a:extLst>
          </p:cNvPr>
          <p:cNvSpPr/>
          <p:nvPr/>
        </p:nvSpPr>
        <p:spPr>
          <a:xfrm>
            <a:off x="2021681" y="2489200"/>
            <a:ext cx="1905000" cy="381000"/>
          </a:xfrm>
          <a:prstGeom prst="roundRect">
            <a:avLst>
              <a:gd name="adj" fmla="val 14000"/>
            </a:avLst>
          </a:prstGeom>
          <a:solidFill>
            <a:schemeClr val="bg1">
              <a:lumMod val="85000"/>
            </a:schemeClr>
          </a:solidFill>
          <a:ln w="6350">
            <a:noFill/>
            <a:prstDash val="solid"/>
          </a:ln>
        </p:spPr>
        <p:txBody>
          <a:bodyPr wrap="square" lIns="101600" tIns="25400" rIns="101600" bIns="25400" anchor="ctr">
            <a:noAutofit/>
          </a:bodyPr>
          <a:lstStyle/>
          <a:p>
            <a:pPr algn="ctr">
              <a:lnSpc>
                <a:spcPct val="96000"/>
              </a:lnSpc>
            </a:pPr>
            <a:r>
              <a:rPr lang="en-AU" sz="800" kern="0">
                <a:solidFill>
                  <a:schemeClr val="bg1"/>
                </a:solidFill>
                <a:latin typeface="Arial" pitchFamily="34" charset="0"/>
                <a:cs typeface="Arial" pitchFamily="34" charset="0"/>
              </a:rPr>
              <a:t>“What documents are still required?”</a:t>
            </a:r>
          </a:p>
        </p:txBody>
      </p:sp>
      <p:sp>
        <p:nvSpPr>
          <p:cNvPr id="151" name="S151">
            <a:extLst>
              <a:ext uri="{FF2B5EF4-FFF2-40B4-BE49-F238E27FC236}">
                <a16:creationId xmlns:a16="http://schemas.microsoft.com/office/drawing/2014/main" id="{49E6068B-E074-9835-AA5C-B27C53864796}"/>
              </a:ext>
            </a:extLst>
          </p:cNvPr>
          <p:cNvSpPr/>
          <p:nvPr/>
        </p:nvSpPr>
        <p:spPr>
          <a:xfrm>
            <a:off x="4028281" y="2489200"/>
            <a:ext cx="1905000" cy="381000"/>
          </a:xfrm>
          <a:prstGeom prst="roundRect">
            <a:avLst>
              <a:gd name="adj" fmla="val 14000"/>
            </a:avLst>
          </a:prstGeom>
          <a:solidFill>
            <a:schemeClr val="bg1">
              <a:lumMod val="85000"/>
            </a:schemeClr>
          </a:solidFill>
          <a:ln w="6350">
            <a:noFill/>
            <a:prstDash val="solid"/>
          </a:ln>
        </p:spPr>
        <p:txBody>
          <a:bodyPr wrap="square" lIns="101600" tIns="25400" rIns="101600" bIns="25400" anchor="ctr">
            <a:noAutofit/>
          </a:bodyPr>
          <a:lstStyle/>
          <a:p>
            <a:pPr algn="ctr">
              <a:lnSpc>
                <a:spcPct val="96000"/>
              </a:lnSpc>
            </a:pPr>
            <a:r>
              <a:rPr lang="en-AU" sz="800" kern="0">
                <a:solidFill>
                  <a:schemeClr val="bg1"/>
                </a:solidFill>
                <a:latin typeface="Arial" pitchFamily="34" charset="0"/>
                <a:cs typeface="Arial" pitchFamily="34" charset="0"/>
              </a:rPr>
              <a:t>“Has my application progressed?”</a:t>
            </a:r>
          </a:p>
        </p:txBody>
      </p:sp>
      <p:sp>
        <p:nvSpPr>
          <p:cNvPr id="152" name="S152">
            <a:extLst>
              <a:ext uri="{FF2B5EF4-FFF2-40B4-BE49-F238E27FC236}">
                <a16:creationId xmlns:a16="http://schemas.microsoft.com/office/drawing/2014/main" id="{19D637D4-703F-6AC4-8030-32450078E5AB}"/>
              </a:ext>
            </a:extLst>
          </p:cNvPr>
          <p:cNvSpPr/>
          <p:nvPr/>
        </p:nvSpPr>
        <p:spPr>
          <a:xfrm>
            <a:off x="6034881" y="2489200"/>
            <a:ext cx="1905000" cy="381000"/>
          </a:xfrm>
          <a:prstGeom prst="roundRect">
            <a:avLst>
              <a:gd name="adj" fmla="val 14000"/>
            </a:avLst>
          </a:prstGeom>
          <a:solidFill>
            <a:schemeClr val="bg1">
              <a:lumMod val="85000"/>
            </a:schemeClr>
          </a:solidFill>
          <a:ln w="6350">
            <a:noFill/>
            <a:prstDash val="solid"/>
          </a:ln>
        </p:spPr>
        <p:txBody>
          <a:bodyPr wrap="square" lIns="101600" tIns="25400" rIns="101600" bIns="25400" anchor="ctr">
            <a:noAutofit/>
          </a:bodyPr>
          <a:lstStyle/>
          <a:p>
            <a:pPr algn="ctr">
              <a:lnSpc>
                <a:spcPct val="96000"/>
              </a:lnSpc>
            </a:pPr>
            <a:r>
              <a:rPr lang="en-AU" sz="800" kern="0">
                <a:solidFill>
                  <a:schemeClr val="bg1"/>
                </a:solidFill>
                <a:latin typeface="Arial" pitchFamily="34" charset="0"/>
                <a:cs typeface="Arial" pitchFamily="34" charset="0"/>
              </a:rPr>
              <a:t>“When will I receive an outcome?”</a:t>
            </a:r>
          </a:p>
        </p:txBody>
      </p:sp>
      <p:sp>
        <p:nvSpPr>
          <p:cNvPr id="154" name="S154">
            <a:extLst>
              <a:ext uri="{FF2B5EF4-FFF2-40B4-BE49-F238E27FC236}">
                <a16:creationId xmlns:a16="http://schemas.microsoft.com/office/drawing/2014/main" id="{352BC621-C925-0B64-E35A-8A16751E484D}"/>
              </a:ext>
            </a:extLst>
          </p:cNvPr>
          <p:cNvSpPr/>
          <p:nvPr/>
        </p:nvSpPr>
        <p:spPr>
          <a:xfrm>
            <a:off x="8143081" y="2489200"/>
            <a:ext cx="3530600" cy="381000"/>
          </a:xfrm>
          <a:prstGeom prst="roundRect">
            <a:avLst>
              <a:gd name="adj" fmla="val 6000"/>
            </a:avLst>
          </a:prstGeom>
          <a:solidFill>
            <a:schemeClr val="bg1">
              <a:lumMod val="85000"/>
            </a:schemeClr>
          </a:solidFill>
          <a:ln w="9525">
            <a:noFill/>
            <a:prstDash val="solid"/>
          </a:ln>
        </p:spPr>
        <p:txBody>
          <a:bodyPr wrap="square" lIns="114300" tIns="25400" rIns="114300" bIns="25400" anchor="ctr">
            <a:noAutofit/>
          </a:bodyPr>
          <a:lstStyle/>
          <a:p>
            <a:r>
              <a:rPr lang="en-AU" sz="800" b="1" kern="0" spc="60">
                <a:solidFill>
                  <a:schemeClr val="bg1"/>
                </a:solidFill>
                <a:latin typeface="Arial" pitchFamily="34" charset="0"/>
                <a:cs typeface="Arial" pitchFamily="34" charset="0"/>
              </a:rPr>
              <a:t>REPEAT ENQUIRY LOOP DISAPPEARS</a:t>
            </a:r>
          </a:p>
          <a:p>
            <a:pPr>
              <a:lnSpc>
                <a:spcPct val="104000"/>
              </a:lnSpc>
              <a:spcBef>
                <a:spcPts val="300"/>
              </a:spcBef>
            </a:pPr>
            <a:r>
              <a:rPr lang="en-AU" sz="750" kern="0">
                <a:solidFill>
                  <a:schemeClr val="bg1"/>
                </a:solidFill>
                <a:latin typeface="Arial" pitchFamily="34" charset="0"/>
                <a:cs typeface="Arial" pitchFamily="34" charset="0"/>
              </a:rPr>
              <a:t>AI provides proactive updates before members need to ask</a:t>
            </a:r>
          </a:p>
        </p:txBody>
      </p:sp>
      <p:sp>
        <p:nvSpPr>
          <p:cNvPr id="163" name="S163">
            <a:extLst>
              <a:ext uri="{FF2B5EF4-FFF2-40B4-BE49-F238E27FC236}">
                <a16:creationId xmlns:a16="http://schemas.microsoft.com/office/drawing/2014/main" id="{4453643D-B72C-8566-447E-1651E8FD8D68}"/>
              </a:ext>
            </a:extLst>
          </p:cNvPr>
          <p:cNvSpPr/>
          <p:nvPr/>
        </p:nvSpPr>
        <p:spPr>
          <a:xfrm>
            <a:off x="11305381" y="6388100"/>
            <a:ext cx="368300" cy="203200"/>
          </a:xfrm>
          <a:prstGeom prst="rect">
            <a:avLst/>
          </a:prstGeom>
          <a:noFill/>
          <a:ln/>
        </p:spPr>
        <p:txBody>
          <a:bodyPr wrap="square" lIns="76200" tIns="38100" rIns="76200" bIns="38100" anchor="t">
            <a:noAutofit/>
          </a:bodyPr>
          <a:lstStyle/>
          <a:p>
            <a:pPr algn="r"/>
            <a:r>
              <a:rPr lang="en-AU" sz="750" kern="0">
                <a:solidFill>
                  <a:srgbClr val="8794A1"/>
                </a:solidFill>
                <a:latin typeface="Arial" pitchFamily="34" charset="0"/>
                <a:cs typeface="Arial" pitchFamily="34" charset="0"/>
              </a:rPr>
              <a:t>15</a:t>
            </a:r>
          </a:p>
        </p:txBody>
      </p:sp>
      <p:sp>
        <p:nvSpPr>
          <p:cNvPr id="170" name="S170">
            <a:extLst>
              <a:ext uri="{FF2B5EF4-FFF2-40B4-BE49-F238E27FC236}">
                <a16:creationId xmlns:a16="http://schemas.microsoft.com/office/drawing/2014/main" id="{289029F7-F1FF-E9B3-1447-E38E88501473}"/>
              </a:ext>
            </a:extLst>
          </p:cNvPr>
          <p:cNvSpPr/>
          <p:nvPr/>
        </p:nvSpPr>
        <p:spPr>
          <a:xfrm>
            <a:off x="9667081" y="1397000"/>
            <a:ext cx="114300" cy="114300"/>
          </a:xfrm>
          <a:prstGeom prst="ellipse">
            <a:avLst/>
          </a:prstGeom>
          <a:solidFill>
            <a:schemeClr val="bg1">
              <a:lumMod val="85000"/>
            </a:schemeClr>
          </a:solidFill>
          <a:ln>
            <a:noFill/>
          </a:ln>
        </p:spPr>
        <p:txBody>
          <a:bodyPr wrap="square" lIns="0" tIns="0" rIns="0" bIns="0" anchor="t">
            <a:noAutofit/>
          </a:bodyPr>
          <a:lstStyle/>
          <a:p>
            <a:endParaRPr lang="en-AU">
              <a:solidFill>
                <a:schemeClr val="bg1"/>
              </a:solidFill>
            </a:endParaRPr>
          </a:p>
        </p:txBody>
      </p:sp>
      <p:sp>
        <p:nvSpPr>
          <p:cNvPr id="171" name="S171">
            <a:extLst>
              <a:ext uri="{FF2B5EF4-FFF2-40B4-BE49-F238E27FC236}">
                <a16:creationId xmlns:a16="http://schemas.microsoft.com/office/drawing/2014/main" id="{32084623-D046-EBF7-CD9F-510F7DAB9E8C}"/>
              </a:ext>
            </a:extLst>
          </p:cNvPr>
          <p:cNvSpPr/>
          <p:nvPr/>
        </p:nvSpPr>
        <p:spPr>
          <a:xfrm>
            <a:off x="9819481" y="1358900"/>
            <a:ext cx="1778000" cy="177800"/>
          </a:xfrm>
          <a:prstGeom prst="rect">
            <a:avLst/>
          </a:prstGeom>
          <a:solidFill>
            <a:schemeClr val="bg1">
              <a:lumMod val="85000"/>
            </a:schemeClr>
          </a:solidFill>
          <a:ln>
            <a:noFill/>
          </a:ln>
        </p:spPr>
        <p:txBody>
          <a:bodyPr wrap="none" lIns="0" tIns="0" rIns="0" bIns="0" anchor="ctr">
            <a:noAutofit/>
          </a:bodyPr>
          <a:lstStyle/>
          <a:p>
            <a:r>
              <a:rPr lang="en-AU" sz="750" kern="0">
                <a:solidFill>
                  <a:schemeClr val="bg1"/>
                </a:solidFill>
                <a:latin typeface="Arial" pitchFamily="34" charset="0"/>
                <a:cs typeface="Arial" pitchFamily="34" charset="0"/>
              </a:rPr>
              <a:t>Friction / delay point / high manual effort</a:t>
            </a:r>
          </a:p>
        </p:txBody>
      </p:sp>
      <p:sp>
        <p:nvSpPr>
          <p:cNvPr id="40" name="t">
            <a:extLst>
              <a:ext uri="{FF2B5EF4-FFF2-40B4-BE49-F238E27FC236}">
                <a16:creationId xmlns:a16="http://schemas.microsoft.com/office/drawing/2014/main" id="{D0E99EAB-A510-61E4-2F1A-AF9745DC4D9D}"/>
              </a:ext>
            </a:extLst>
          </p:cNvPr>
          <p:cNvSpPr txBox="1"/>
          <p:nvPr/>
        </p:nvSpPr>
        <p:spPr>
          <a:xfrm>
            <a:off x="1963458" y="3854529"/>
            <a:ext cx="900000" cy="368300"/>
          </a:xfrm>
          <a:prstGeom prst="rect">
            <a:avLst/>
          </a:prstGeom>
          <a:noFill/>
        </p:spPr>
        <p:txBody>
          <a:bodyPr wrap="square" lIns="0" tIns="0" rIns="0" bIns="0" anchor="ctr">
            <a:noAutofit/>
          </a:bodyPr>
          <a:lstStyle/>
          <a:p>
            <a:pPr algn="l">
              <a:buNone/>
            </a:pPr>
            <a:r>
              <a:rPr lang="en-US" sz="850" b="1">
                <a:solidFill>
                  <a:srgbClr val="1B2A41"/>
                </a:solidFill>
                <a:latin typeface="Arial"/>
                <a:cs typeface="Arial"/>
              </a:rPr>
              <a:t>AI-001  </a:t>
            </a:r>
            <a:r>
              <a:rPr lang="en-US" sz="850" b="0">
                <a:solidFill>
                  <a:srgbClr val="1C2B29"/>
                </a:solidFill>
                <a:latin typeface="Arial"/>
                <a:cs typeface="Arial"/>
              </a:rPr>
              <a:t>Intent Identifier and attachment detection</a:t>
            </a:r>
          </a:p>
        </p:txBody>
      </p:sp>
      <p:sp>
        <p:nvSpPr>
          <p:cNvPr id="42" name="t">
            <a:extLst>
              <a:ext uri="{FF2B5EF4-FFF2-40B4-BE49-F238E27FC236}">
                <a16:creationId xmlns:a16="http://schemas.microsoft.com/office/drawing/2014/main" id="{1F531DD0-646F-1D63-71A9-25DB2626716B}"/>
              </a:ext>
            </a:extLst>
          </p:cNvPr>
          <p:cNvSpPr txBox="1"/>
          <p:nvPr/>
        </p:nvSpPr>
        <p:spPr>
          <a:xfrm>
            <a:off x="2986758" y="3777042"/>
            <a:ext cx="900000" cy="368300"/>
          </a:xfrm>
          <a:prstGeom prst="rect">
            <a:avLst/>
          </a:prstGeom>
          <a:noFill/>
        </p:spPr>
        <p:txBody>
          <a:bodyPr wrap="square" lIns="0" tIns="0" rIns="0" bIns="0" anchor="ctr">
            <a:normAutofit/>
          </a:bodyPr>
          <a:lstStyle/>
          <a:p>
            <a:r>
              <a:rPr lang="en-US" sz="850" b="1">
                <a:solidFill>
                  <a:srgbClr val="1B2A41"/>
                </a:solidFill>
                <a:latin typeface="Arial"/>
                <a:cs typeface="Arial"/>
              </a:rPr>
              <a:t>AI-003  </a:t>
            </a:r>
            <a:r>
              <a:rPr lang="en-US" sz="850">
                <a:solidFill>
                  <a:srgbClr val="1C2B29"/>
                </a:solidFill>
                <a:latin typeface="Arial"/>
                <a:cs typeface="Arial"/>
              </a:rPr>
              <a:t>Identity &amp; Profiling Agent</a:t>
            </a:r>
          </a:p>
        </p:txBody>
      </p:sp>
      <p:sp>
        <p:nvSpPr>
          <p:cNvPr id="45" name="t">
            <a:extLst>
              <a:ext uri="{FF2B5EF4-FFF2-40B4-BE49-F238E27FC236}">
                <a16:creationId xmlns:a16="http://schemas.microsoft.com/office/drawing/2014/main" id="{C199A665-55BA-645B-1EB7-C020B5A04B4C}"/>
              </a:ext>
            </a:extLst>
          </p:cNvPr>
          <p:cNvSpPr txBox="1"/>
          <p:nvPr/>
        </p:nvSpPr>
        <p:spPr>
          <a:xfrm>
            <a:off x="5078264" y="3854529"/>
            <a:ext cx="900000" cy="368300"/>
          </a:xfrm>
          <a:prstGeom prst="rect">
            <a:avLst/>
          </a:prstGeom>
          <a:noFill/>
        </p:spPr>
        <p:txBody>
          <a:bodyPr wrap="square" lIns="0" tIns="0" rIns="0" bIns="0" anchor="ctr">
            <a:normAutofit lnSpcReduction="10000"/>
          </a:bodyPr>
          <a:lstStyle/>
          <a:p>
            <a:r>
              <a:rPr lang="en-US" sz="850" b="1">
                <a:solidFill>
                  <a:srgbClr val="1B2A41"/>
                </a:solidFill>
                <a:latin typeface="Arial"/>
                <a:cs typeface="Arial"/>
              </a:rPr>
              <a:t>AI-002  </a:t>
            </a:r>
            <a:r>
              <a:rPr lang="en-US" sz="850">
                <a:solidFill>
                  <a:srgbClr val="1C2B29"/>
                </a:solidFill>
                <a:latin typeface="Arial"/>
                <a:cs typeface="Arial"/>
              </a:rPr>
              <a:t>Conversation Context Manager</a:t>
            </a:r>
          </a:p>
        </p:txBody>
      </p:sp>
      <p:sp>
        <p:nvSpPr>
          <p:cNvPr id="47" name="t">
            <a:extLst>
              <a:ext uri="{FF2B5EF4-FFF2-40B4-BE49-F238E27FC236}">
                <a16:creationId xmlns:a16="http://schemas.microsoft.com/office/drawing/2014/main" id="{8D85396D-5F77-A961-3BCD-17EDC1850ABC}"/>
              </a:ext>
            </a:extLst>
          </p:cNvPr>
          <p:cNvSpPr txBox="1"/>
          <p:nvPr/>
        </p:nvSpPr>
        <p:spPr>
          <a:xfrm>
            <a:off x="4023314" y="3815691"/>
            <a:ext cx="576022" cy="368300"/>
          </a:xfrm>
          <a:prstGeom prst="rect">
            <a:avLst/>
          </a:prstGeom>
          <a:noFill/>
        </p:spPr>
        <p:txBody>
          <a:bodyPr wrap="square" lIns="0" tIns="0" rIns="0" bIns="0" anchor="ctr">
            <a:normAutofit lnSpcReduction="10000"/>
          </a:bodyPr>
          <a:lstStyle/>
          <a:p>
            <a:pPr algn="l">
              <a:buNone/>
            </a:pPr>
            <a:r>
              <a:rPr lang="en-US" sz="850" b="1">
                <a:solidFill>
                  <a:srgbClr val="1B2A41"/>
                </a:solidFill>
                <a:latin typeface="Arial"/>
                <a:cs typeface="Arial"/>
              </a:rPr>
              <a:t>AI-005  </a:t>
            </a:r>
            <a:r>
              <a:rPr lang="en-US" sz="850" b="0">
                <a:solidFill>
                  <a:srgbClr val="1C2B29"/>
                </a:solidFill>
                <a:latin typeface="Arial"/>
                <a:cs typeface="Arial"/>
              </a:rPr>
              <a:t>Empathy Agent</a:t>
            </a:r>
          </a:p>
        </p:txBody>
      </p:sp>
      <p:sp>
        <p:nvSpPr>
          <p:cNvPr id="49" name="t">
            <a:extLst>
              <a:ext uri="{FF2B5EF4-FFF2-40B4-BE49-F238E27FC236}">
                <a16:creationId xmlns:a16="http://schemas.microsoft.com/office/drawing/2014/main" id="{31DF2D33-FCE3-D616-A100-A7D18FC3A8C1}"/>
              </a:ext>
            </a:extLst>
          </p:cNvPr>
          <p:cNvSpPr txBox="1"/>
          <p:nvPr/>
        </p:nvSpPr>
        <p:spPr>
          <a:xfrm>
            <a:off x="8447382" y="3815691"/>
            <a:ext cx="900000" cy="368300"/>
          </a:xfrm>
          <a:prstGeom prst="rect">
            <a:avLst/>
          </a:prstGeom>
          <a:noFill/>
        </p:spPr>
        <p:txBody>
          <a:bodyPr wrap="square" lIns="0" tIns="0" rIns="0" bIns="0" anchor="ctr">
            <a:normAutofit/>
          </a:bodyPr>
          <a:lstStyle/>
          <a:p>
            <a:pPr algn="l">
              <a:buNone/>
            </a:pPr>
            <a:r>
              <a:rPr lang="en-US" sz="850" b="1">
                <a:solidFill>
                  <a:srgbClr val="1B2A41"/>
                </a:solidFill>
                <a:latin typeface="Arial"/>
                <a:cs typeface="Arial"/>
              </a:rPr>
              <a:t>AI-011  </a:t>
            </a:r>
            <a:r>
              <a:rPr lang="en-US" sz="850" b="0">
                <a:solidFill>
                  <a:srgbClr val="1C2B29"/>
                </a:solidFill>
                <a:latin typeface="Arial"/>
                <a:cs typeface="Arial"/>
              </a:rPr>
              <a:t>Writer</a:t>
            </a:r>
          </a:p>
        </p:txBody>
      </p:sp>
      <p:sp>
        <p:nvSpPr>
          <p:cNvPr id="51" name="t">
            <a:extLst>
              <a:ext uri="{FF2B5EF4-FFF2-40B4-BE49-F238E27FC236}">
                <a16:creationId xmlns:a16="http://schemas.microsoft.com/office/drawing/2014/main" id="{7B28D531-5972-2B50-1291-A0F1AB7D06CE}"/>
              </a:ext>
            </a:extLst>
          </p:cNvPr>
          <p:cNvSpPr txBox="1"/>
          <p:nvPr/>
        </p:nvSpPr>
        <p:spPr>
          <a:xfrm>
            <a:off x="8447382" y="4142788"/>
            <a:ext cx="900000" cy="368300"/>
          </a:xfrm>
          <a:prstGeom prst="rect">
            <a:avLst/>
          </a:prstGeom>
          <a:noFill/>
        </p:spPr>
        <p:txBody>
          <a:bodyPr wrap="square" lIns="0" tIns="0" rIns="0" bIns="0" anchor="ctr">
            <a:normAutofit/>
          </a:bodyPr>
          <a:lstStyle/>
          <a:p>
            <a:pPr algn="l">
              <a:buNone/>
            </a:pPr>
            <a:r>
              <a:rPr lang="en-US" sz="850" b="1">
                <a:solidFill>
                  <a:srgbClr val="1B2A41"/>
                </a:solidFill>
                <a:latin typeface="Arial"/>
                <a:cs typeface="Arial"/>
              </a:rPr>
              <a:t>AI-012  </a:t>
            </a:r>
            <a:r>
              <a:rPr lang="en-US" sz="850" b="0">
                <a:solidFill>
                  <a:srgbClr val="1C2B29"/>
                </a:solidFill>
                <a:latin typeface="Arial"/>
                <a:cs typeface="Arial"/>
              </a:rPr>
              <a:t>Reviewer &amp; Editor</a:t>
            </a:r>
          </a:p>
        </p:txBody>
      </p:sp>
      <p:sp>
        <p:nvSpPr>
          <p:cNvPr id="53" name="t">
            <a:extLst>
              <a:ext uri="{FF2B5EF4-FFF2-40B4-BE49-F238E27FC236}">
                <a16:creationId xmlns:a16="http://schemas.microsoft.com/office/drawing/2014/main" id="{7D762A4B-EE3B-1128-76FA-F47F1B7D2725}"/>
              </a:ext>
            </a:extLst>
          </p:cNvPr>
          <p:cNvSpPr txBox="1"/>
          <p:nvPr/>
        </p:nvSpPr>
        <p:spPr>
          <a:xfrm>
            <a:off x="4021432" y="4247279"/>
            <a:ext cx="900000" cy="368300"/>
          </a:xfrm>
          <a:prstGeom prst="rect">
            <a:avLst/>
          </a:prstGeom>
          <a:noFill/>
        </p:spPr>
        <p:txBody>
          <a:bodyPr wrap="square" lIns="0" tIns="0" rIns="0" bIns="0" anchor="ctr">
            <a:normAutofit lnSpcReduction="10000"/>
          </a:bodyPr>
          <a:lstStyle/>
          <a:p>
            <a:pPr algn="l">
              <a:buNone/>
            </a:pPr>
            <a:r>
              <a:rPr lang="en-US" sz="850" b="1">
                <a:solidFill>
                  <a:srgbClr val="1B2A41"/>
                </a:solidFill>
                <a:latin typeface="Arial"/>
                <a:cs typeface="Arial"/>
              </a:rPr>
              <a:t>AI-004  </a:t>
            </a:r>
            <a:r>
              <a:rPr lang="en-US" sz="850" b="0">
                <a:solidFill>
                  <a:srgbClr val="1C2B29"/>
                </a:solidFill>
                <a:latin typeface="Arial"/>
                <a:cs typeface="Arial"/>
              </a:rPr>
              <a:t>Attachment Validation Agent</a:t>
            </a:r>
          </a:p>
        </p:txBody>
      </p:sp>
      <p:sp>
        <p:nvSpPr>
          <p:cNvPr id="55" name="t">
            <a:extLst>
              <a:ext uri="{FF2B5EF4-FFF2-40B4-BE49-F238E27FC236}">
                <a16:creationId xmlns:a16="http://schemas.microsoft.com/office/drawing/2014/main" id="{0291307F-07A5-8F93-A8D5-BD63C5CC2501}"/>
              </a:ext>
            </a:extLst>
          </p:cNvPr>
          <p:cNvSpPr txBox="1"/>
          <p:nvPr/>
        </p:nvSpPr>
        <p:spPr>
          <a:xfrm>
            <a:off x="5181420" y="4638671"/>
            <a:ext cx="2278775" cy="393700"/>
          </a:xfrm>
          <a:prstGeom prst="rect">
            <a:avLst/>
          </a:prstGeom>
          <a:noFill/>
        </p:spPr>
        <p:txBody>
          <a:bodyPr wrap="square" lIns="0" tIns="0" rIns="0" bIns="0" anchor="ctr">
            <a:normAutofit/>
          </a:bodyPr>
          <a:lstStyle/>
          <a:p>
            <a:pPr algn="l">
              <a:buNone/>
            </a:pPr>
            <a:r>
              <a:rPr lang="en-US" sz="850" b="1">
                <a:solidFill>
                  <a:srgbClr val="1B2A41"/>
                </a:solidFill>
                <a:latin typeface="Arial"/>
                <a:cs typeface="Arial"/>
              </a:rPr>
              <a:t>AI-013  </a:t>
            </a:r>
            <a:r>
              <a:rPr lang="en-US" sz="850" b="0">
                <a:solidFill>
                  <a:srgbClr val="1C2B29"/>
                </a:solidFill>
                <a:latin typeface="Arial"/>
                <a:cs typeface="Arial"/>
              </a:rPr>
              <a:t>Human Feedback Learning</a:t>
            </a:r>
          </a:p>
        </p:txBody>
      </p:sp>
      <p:sp>
        <p:nvSpPr>
          <p:cNvPr id="57" name="t">
            <a:extLst>
              <a:ext uri="{FF2B5EF4-FFF2-40B4-BE49-F238E27FC236}">
                <a16:creationId xmlns:a16="http://schemas.microsoft.com/office/drawing/2014/main" id="{F2C5E53B-4513-8C51-F0D2-27EE86F955EA}"/>
              </a:ext>
            </a:extLst>
          </p:cNvPr>
          <p:cNvSpPr txBox="1"/>
          <p:nvPr/>
        </p:nvSpPr>
        <p:spPr>
          <a:xfrm>
            <a:off x="669211" y="4103513"/>
            <a:ext cx="963032" cy="262922"/>
          </a:xfrm>
          <a:prstGeom prst="rect">
            <a:avLst/>
          </a:prstGeom>
          <a:noFill/>
        </p:spPr>
        <p:txBody>
          <a:bodyPr wrap="square" lIns="0" tIns="0" rIns="0" bIns="0" anchor="ctr">
            <a:normAutofit/>
          </a:bodyPr>
          <a:lstStyle/>
          <a:p>
            <a:pPr algn="l">
              <a:buNone/>
            </a:pPr>
            <a:r>
              <a:rPr lang="en-US" sz="850" b="1">
                <a:solidFill>
                  <a:srgbClr val="1B2A41"/>
                </a:solidFill>
                <a:latin typeface="Arial"/>
                <a:cs typeface="Arial"/>
              </a:rPr>
              <a:t>AI Dashboard</a:t>
            </a:r>
            <a:endParaRPr lang="en-US" sz="850" b="0">
              <a:solidFill>
                <a:srgbClr val="1C2B29"/>
              </a:solidFill>
              <a:latin typeface="Arial"/>
              <a:cs typeface="Arial"/>
            </a:endParaRPr>
          </a:p>
        </p:txBody>
      </p:sp>
      <p:pic>
        <p:nvPicPr>
          <p:cNvPr id="59" name="Graphic 58" descr="Robot outline">
            <a:extLst>
              <a:ext uri="{FF2B5EF4-FFF2-40B4-BE49-F238E27FC236}">
                <a16:creationId xmlns:a16="http://schemas.microsoft.com/office/drawing/2014/main" id="{F812E77A-541B-7EA3-05F5-D4322BD2F5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4585" y="3349934"/>
            <a:ext cx="503847" cy="437998"/>
          </a:xfrm>
          <a:prstGeom prst="rect">
            <a:avLst/>
          </a:prstGeom>
        </p:spPr>
      </p:pic>
      <p:pic>
        <p:nvPicPr>
          <p:cNvPr id="60" name="Graphic 59" descr="Robot outline">
            <a:extLst>
              <a:ext uri="{FF2B5EF4-FFF2-40B4-BE49-F238E27FC236}">
                <a16:creationId xmlns:a16="http://schemas.microsoft.com/office/drawing/2014/main" id="{60CFEB57-85DB-6BA5-CBBE-1F6BEFA34F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6758" y="3352072"/>
            <a:ext cx="503847" cy="437998"/>
          </a:xfrm>
          <a:prstGeom prst="rect">
            <a:avLst/>
          </a:prstGeom>
        </p:spPr>
      </p:pic>
      <p:pic>
        <p:nvPicPr>
          <p:cNvPr id="61" name="Graphic 60" descr="Robot outline">
            <a:extLst>
              <a:ext uri="{FF2B5EF4-FFF2-40B4-BE49-F238E27FC236}">
                <a16:creationId xmlns:a16="http://schemas.microsoft.com/office/drawing/2014/main" id="{00BF0822-DF51-DABC-39D0-AE5589712C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68931" y="3354210"/>
            <a:ext cx="503847" cy="437998"/>
          </a:xfrm>
          <a:prstGeom prst="rect">
            <a:avLst/>
          </a:prstGeom>
        </p:spPr>
      </p:pic>
      <p:pic>
        <p:nvPicPr>
          <p:cNvPr id="62" name="Graphic 61" descr="Robot outline">
            <a:extLst>
              <a:ext uri="{FF2B5EF4-FFF2-40B4-BE49-F238E27FC236}">
                <a16:creationId xmlns:a16="http://schemas.microsoft.com/office/drawing/2014/main" id="{174E4B3A-6E37-A475-10DB-696A44DC92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51104" y="3356348"/>
            <a:ext cx="503847" cy="437998"/>
          </a:xfrm>
          <a:prstGeom prst="rect">
            <a:avLst/>
          </a:prstGeom>
        </p:spPr>
      </p:pic>
      <p:cxnSp>
        <p:nvCxnSpPr>
          <p:cNvPr id="448" name="Straight Arrow Connector 447">
            <a:extLst>
              <a:ext uri="{FF2B5EF4-FFF2-40B4-BE49-F238E27FC236}">
                <a16:creationId xmlns:a16="http://schemas.microsoft.com/office/drawing/2014/main" id="{17EAEC86-781A-FAB7-9955-EF611B39E59B}"/>
              </a:ext>
            </a:extLst>
          </p:cNvPr>
          <p:cNvCxnSpPr>
            <a:endCxn id="60" idx="1"/>
          </p:cNvCxnSpPr>
          <p:nvPr/>
        </p:nvCxnSpPr>
        <p:spPr>
          <a:xfrm flipV="1">
            <a:off x="2508432" y="3571071"/>
            <a:ext cx="478326" cy="42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0" name="Straight Arrow Connector 449">
            <a:extLst>
              <a:ext uri="{FF2B5EF4-FFF2-40B4-BE49-F238E27FC236}">
                <a16:creationId xmlns:a16="http://schemas.microsoft.com/office/drawing/2014/main" id="{66B6669C-D92D-0DCE-FC12-E1003D5E0291}"/>
              </a:ext>
            </a:extLst>
          </p:cNvPr>
          <p:cNvCxnSpPr>
            <a:cxnSpLocks/>
            <a:endCxn id="61" idx="1"/>
          </p:cNvCxnSpPr>
          <p:nvPr/>
        </p:nvCxnSpPr>
        <p:spPr>
          <a:xfrm>
            <a:off x="3490605" y="3568933"/>
            <a:ext cx="478326" cy="42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3" name="Straight Arrow Connector 452">
            <a:extLst>
              <a:ext uri="{FF2B5EF4-FFF2-40B4-BE49-F238E27FC236}">
                <a16:creationId xmlns:a16="http://schemas.microsoft.com/office/drawing/2014/main" id="{0A885C1F-A9A6-AEAD-80DC-3037EF66C338}"/>
              </a:ext>
            </a:extLst>
          </p:cNvPr>
          <p:cNvCxnSpPr>
            <a:endCxn id="62" idx="1"/>
          </p:cNvCxnSpPr>
          <p:nvPr/>
        </p:nvCxnSpPr>
        <p:spPr>
          <a:xfrm>
            <a:off x="4471432" y="3575347"/>
            <a:ext cx="47967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5" name="Straight Arrow Connector 454">
            <a:extLst>
              <a:ext uri="{FF2B5EF4-FFF2-40B4-BE49-F238E27FC236}">
                <a16:creationId xmlns:a16="http://schemas.microsoft.com/office/drawing/2014/main" id="{EA6BE07E-10A9-2432-8740-5FCD1E28B477}"/>
              </a:ext>
            </a:extLst>
          </p:cNvPr>
          <p:cNvCxnSpPr>
            <a:cxnSpLocks/>
            <a:stCxn id="62" idx="3"/>
          </p:cNvCxnSpPr>
          <p:nvPr/>
        </p:nvCxnSpPr>
        <p:spPr>
          <a:xfrm>
            <a:off x="5454951" y="3575347"/>
            <a:ext cx="6729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58" name="Rectangle: Rounded Corners 457">
            <a:extLst>
              <a:ext uri="{FF2B5EF4-FFF2-40B4-BE49-F238E27FC236}">
                <a16:creationId xmlns:a16="http://schemas.microsoft.com/office/drawing/2014/main" id="{B7FAFF43-9C33-5C1C-F1EE-EDEB32A6D2E2}"/>
              </a:ext>
            </a:extLst>
          </p:cNvPr>
          <p:cNvSpPr/>
          <p:nvPr/>
        </p:nvSpPr>
        <p:spPr>
          <a:xfrm>
            <a:off x="6161272" y="3390899"/>
            <a:ext cx="1778609" cy="373086"/>
          </a:xfrm>
          <a:prstGeom prst="roundRect">
            <a:avLst>
              <a:gd name="adj" fmla="val 14651"/>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a:solidFill>
                  <a:schemeClr val="tx1"/>
                </a:solidFill>
              </a:rPr>
              <a:t>GROW and CNTX</a:t>
            </a:r>
          </a:p>
        </p:txBody>
      </p:sp>
      <p:pic>
        <p:nvPicPr>
          <p:cNvPr id="459" name="Graphic 458" descr="Robot outline">
            <a:extLst>
              <a:ext uri="{FF2B5EF4-FFF2-40B4-BE49-F238E27FC236}">
                <a16:creationId xmlns:a16="http://schemas.microsoft.com/office/drawing/2014/main" id="{5EDD6F59-35AB-B8AC-56C6-962792F558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87085" y="3391981"/>
            <a:ext cx="503847" cy="437998"/>
          </a:xfrm>
          <a:prstGeom prst="rect">
            <a:avLst/>
          </a:prstGeom>
        </p:spPr>
      </p:pic>
      <p:cxnSp>
        <p:nvCxnSpPr>
          <p:cNvPr id="462" name="Straight Arrow Connector 461">
            <a:extLst>
              <a:ext uri="{FF2B5EF4-FFF2-40B4-BE49-F238E27FC236}">
                <a16:creationId xmlns:a16="http://schemas.microsoft.com/office/drawing/2014/main" id="{B14230D0-EE06-E0BC-5C14-E3B8AA639021}"/>
              </a:ext>
            </a:extLst>
          </p:cNvPr>
          <p:cNvCxnSpPr>
            <a:cxnSpLocks/>
            <a:endCxn id="459" idx="1"/>
          </p:cNvCxnSpPr>
          <p:nvPr/>
        </p:nvCxnSpPr>
        <p:spPr>
          <a:xfrm>
            <a:off x="8090932" y="3610980"/>
            <a:ext cx="396153"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79" name="Connector: Elbow 478">
            <a:extLst>
              <a:ext uri="{FF2B5EF4-FFF2-40B4-BE49-F238E27FC236}">
                <a16:creationId xmlns:a16="http://schemas.microsoft.com/office/drawing/2014/main" id="{9481B723-291B-36AE-85C0-16CD3A375080}"/>
              </a:ext>
            </a:extLst>
          </p:cNvPr>
          <p:cNvCxnSpPr>
            <a:cxnSpLocks/>
            <a:stCxn id="51" idx="2"/>
            <a:endCxn id="458" idx="2"/>
          </p:cNvCxnSpPr>
          <p:nvPr/>
        </p:nvCxnSpPr>
        <p:spPr>
          <a:xfrm rot="5400000" flipH="1">
            <a:off x="7600428" y="3214135"/>
            <a:ext cx="747103" cy="1846805"/>
          </a:xfrm>
          <a:prstGeom prst="bentConnector3">
            <a:avLst>
              <a:gd name="adj1" fmla="val -30598"/>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97" name="Straight Arrow Connector 496">
            <a:extLst>
              <a:ext uri="{FF2B5EF4-FFF2-40B4-BE49-F238E27FC236}">
                <a16:creationId xmlns:a16="http://schemas.microsoft.com/office/drawing/2014/main" id="{29C17906-B44E-8C62-C00D-9FA40ADF4D31}"/>
              </a:ext>
            </a:extLst>
          </p:cNvPr>
          <p:cNvCxnSpPr>
            <a:cxnSpLocks/>
            <a:endCxn id="504" idx="1"/>
          </p:cNvCxnSpPr>
          <p:nvPr/>
        </p:nvCxnSpPr>
        <p:spPr>
          <a:xfrm flipV="1">
            <a:off x="8990932" y="3608359"/>
            <a:ext cx="863969" cy="26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04" name="Graphic 503" descr="Hero Female outline">
            <a:extLst>
              <a:ext uri="{FF2B5EF4-FFF2-40B4-BE49-F238E27FC236}">
                <a16:creationId xmlns:a16="http://schemas.microsoft.com/office/drawing/2014/main" id="{6CD59F35-5725-D6C6-ED76-B42CE8A84E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54901" y="3368864"/>
            <a:ext cx="478989" cy="478989"/>
          </a:xfrm>
          <a:prstGeom prst="rect">
            <a:avLst/>
          </a:prstGeom>
        </p:spPr>
      </p:pic>
      <p:pic>
        <p:nvPicPr>
          <p:cNvPr id="509" name="Graphic 508" descr="Robot outline">
            <a:extLst>
              <a:ext uri="{FF2B5EF4-FFF2-40B4-BE49-F238E27FC236}">
                <a16:creationId xmlns:a16="http://schemas.microsoft.com/office/drawing/2014/main" id="{24417FCC-CBE2-C17D-9606-C8E3CC657B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7374" y="3774913"/>
            <a:ext cx="503847" cy="437998"/>
          </a:xfrm>
          <a:prstGeom prst="rect">
            <a:avLst/>
          </a:prstGeom>
        </p:spPr>
      </p:pic>
      <p:sp>
        <p:nvSpPr>
          <p:cNvPr id="510" name="Oval 509">
            <a:extLst>
              <a:ext uri="{FF2B5EF4-FFF2-40B4-BE49-F238E27FC236}">
                <a16:creationId xmlns:a16="http://schemas.microsoft.com/office/drawing/2014/main" id="{C19178B1-6BB4-7264-8330-7DA0126BC2BB}"/>
              </a:ext>
            </a:extLst>
          </p:cNvPr>
          <p:cNvSpPr/>
          <p:nvPr/>
        </p:nvSpPr>
        <p:spPr>
          <a:xfrm>
            <a:off x="11088721" y="3356542"/>
            <a:ext cx="504000" cy="504000"/>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300">
              <a:solidFill>
                <a:schemeClr val="tx1"/>
              </a:solidFill>
            </a:endParaRPr>
          </a:p>
        </p:txBody>
      </p:sp>
      <p:cxnSp>
        <p:nvCxnSpPr>
          <p:cNvPr id="64" name="Straight Arrow Connector 63">
            <a:extLst>
              <a:ext uri="{FF2B5EF4-FFF2-40B4-BE49-F238E27FC236}">
                <a16:creationId xmlns:a16="http://schemas.microsoft.com/office/drawing/2014/main" id="{97BC8531-D334-7BC7-A73C-A9F1B22DA3C2}"/>
              </a:ext>
            </a:extLst>
          </p:cNvPr>
          <p:cNvCxnSpPr>
            <a:cxnSpLocks/>
          </p:cNvCxnSpPr>
          <p:nvPr/>
        </p:nvCxnSpPr>
        <p:spPr>
          <a:xfrm>
            <a:off x="10333890" y="3608359"/>
            <a:ext cx="676878" cy="1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S115">
            <a:extLst>
              <a:ext uri="{FF2B5EF4-FFF2-40B4-BE49-F238E27FC236}">
                <a16:creationId xmlns:a16="http://schemas.microsoft.com/office/drawing/2014/main" id="{6AF62B87-7D08-EAD3-6D51-A01B27463957}"/>
              </a:ext>
            </a:extLst>
          </p:cNvPr>
          <p:cNvSpPr/>
          <p:nvPr/>
        </p:nvSpPr>
        <p:spPr>
          <a:xfrm>
            <a:off x="11071549" y="3495697"/>
            <a:ext cx="538343" cy="268287"/>
          </a:xfrm>
          <a:prstGeom prst="rect">
            <a:avLst/>
          </a:prstGeom>
          <a:noFill/>
          <a:ln/>
        </p:spPr>
        <p:txBody>
          <a:bodyPr wrap="square" lIns="25400" tIns="38100" rIns="25400" bIns="38100" anchor="t">
            <a:noAutofit/>
          </a:bodyPr>
          <a:lstStyle/>
          <a:p>
            <a:pPr algn="ctr">
              <a:lnSpc>
                <a:spcPct val="96000"/>
              </a:lnSpc>
            </a:pPr>
            <a:r>
              <a:rPr lang="en-AU" sz="600" b="1" kern="0">
                <a:solidFill>
                  <a:srgbClr val="3A4A5E"/>
                </a:solidFill>
                <a:latin typeface="Arial" pitchFamily="34" charset="0"/>
                <a:cs typeface="Arial" pitchFamily="34" charset="0"/>
              </a:rPr>
              <a:t>CASE CLOSED</a:t>
            </a:r>
          </a:p>
        </p:txBody>
      </p:sp>
      <p:sp>
        <p:nvSpPr>
          <p:cNvPr id="7" name="TextBox 6">
            <a:extLst>
              <a:ext uri="{FF2B5EF4-FFF2-40B4-BE49-F238E27FC236}">
                <a16:creationId xmlns:a16="http://schemas.microsoft.com/office/drawing/2014/main" id="{2CF73947-DFDF-1EFA-4FE1-52246C090333}"/>
              </a:ext>
            </a:extLst>
          </p:cNvPr>
          <p:cNvSpPr txBox="1"/>
          <p:nvPr/>
        </p:nvSpPr>
        <p:spPr>
          <a:xfrm>
            <a:off x="1832070" y="5144223"/>
            <a:ext cx="3340248" cy="756489"/>
          </a:xfrm>
          <a:prstGeom prst="rect">
            <a:avLst/>
          </a:prstGeom>
          <a:noFill/>
        </p:spPr>
        <p:txBody>
          <a:bodyPr wrap="square" anchor="ctr" anchorCtr="0">
            <a:spAutoFit/>
          </a:bodyPr>
          <a:lstStyle/>
          <a:p>
            <a:pPr algn="l">
              <a:spcBef>
                <a:spcPts val="400"/>
              </a:spcBef>
              <a:buNone/>
            </a:pPr>
            <a:r>
              <a:rPr lang="en-AU" sz="900" b="1" kern="0" spc="80">
                <a:latin typeface="Arial" pitchFamily="34" charset="0"/>
                <a:cs typeface="Arial" pitchFamily="34" charset="0"/>
              </a:rPr>
              <a:t>EXECUTIVE</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Member experience</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First contact resolution</a:t>
            </a:r>
          </a:p>
          <a:p>
            <a:pPr algn="l">
              <a:spcBef>
                <a:spcPts val="400"/>
              </a:spcBef>
              <a:buNone/>
            </a:pPr>
            <a:endParaRPr lang="en-AU" sz="900" b="1" spc="60">
              <a:solidFill>
                <a:srgbClr val="292460"/>
              </a:solidFill>
              <a:latin typeface="Arial"/>
              <a:cs typeface="Arial"/>
            </a:endParaRPr>
          </a:p>
        </p:txBody>
      </p:sp>
      <p:sp>
        <p:nvSpPr>
          <p:cNvPr id="5" name="S104">
            <a:extLst>
              <a:ext uri="{FF2B5EF4-FFF2-40B4-BE49-F238E27FC236}">
                <a16:creationId xmlns:a16="http://schemas.microsoft.com/office/drawing/2014/main" id="{5893E285-A5CC-FEFB-DE38-B59287975AE6}"/>
              </a:ext>
            </a:extLst>
          </p:cNvPr>
          <p:cNvSpPr/>
          <p:nvPr/>
        </p:nvSpPr>
        <p:spPr>
          <a:xfrm>
            <a:off x="534670" y="4974298"/>
            <a:ext cx="11144923" cy="963783"/>
          </a:xfrm>
          <a:prstGeom prst="rect">
            <a:avLst/>
          </a:prstGeom>
          <a:solidFill>
            <a:srgbClr val="7226E0">
              <a:alpha val="7000"/>
            </a:srgbClr>
          </a:solidFill>
          <a:ln/>
        </p:spPr>
        <p:txBody>
          <a:bodyPr wrap="square" lIns="76200" tIns="38100" rIns="76200" bIns="38100" anchor="t">
            <a:noAutofit/>
          </a:bodyPr>
          <a:lstStyle/>
          <a:p>
            <a:endParaRPr lang="en-AU"/>
          </a:p>
        </p:txBody>
      </p:sp>
      <p:sp>
        <p:nvSpPr>
          <p:cNvPr id="6" name="S106">
            <a:extLst>
              <a:ext uri="{FF2B5EF4-FFF2-40B4-BE49-F238E27FC236}">
                <a16:creationId xmlns:a16="http://schemas.microsoft.com/office/drawing/2014/main" id="{3576C426-EDA7-4733-13FA-3D38AEC6A9C2}"/>
              </a:ext>
            </a:extLst>
          </p:cNvPr>
          <p:cNvSpPr/>
          <p:nvPr/>
        </p:nvSpPr>
        <p:spPr>
          <a:xfrm>
            <a:off x="581446" y="4996591"/>
            <a:ext cx="1498600" cy="186378"/>
          </a:xfrm>
          <a:prstGeom prst="rect">
            <a:avLst/>
          </a:prstGeom>
          <a:noFill/>
          <a:ln/>
        </p:spPr>
        <p:txBody>
          <a:bodyPr wrap="square" lIns="76200" tIns="38100" rIns="76200" bIns="38100" anchor="t">
            <a:noAutofit/>
          </a:bodyPr>
          <a:lstStyle/>
          <a:p>
            <a:pPr>
              <a:lnSpc>
                <a:spcPct val="94000"/>
              </a:lnSpc>
            </a:pPr>
            <a:r>
              <a:rPr lang="en-AU" sz="900" b="1" kern="0" spc="80">
                <a:solidFill>
                  <a:srgbClr val="7226E0"/>
                </a:solidFill>
                <a:latin typeface="Arial" pitchFamily="34" charset="0"/>
                <a:cs typeface="Arial" pitchFamily="34" charset="0"/>
              </a:rPr>
              <a:t>IMPROVES</a:t>
            </a:r>
            <a:endParaRPr lang="en-AU" sz="700" i="1" kern="0">
              <a:solidFill>
                <a:srgbClr val="5C6B7A"/>
              </a:solidFill>
              <a:latin typeface="Arial" pitchFamily="34" charset="0"/>
              <a:cs typeface="Arial" pitchFamily="34" charset="0"/>
            </a:endParaRPr>
          </a:p>
        </p:txBody>
      </p:sp>
      <p:sp>
        <p:nvSpPr>
          <p:cNvPr id="26" name="TextBox 25">
            <a:extLst>
              <a:ext uri="{FF2B5EF4-FFF2-40B4-BE49-F238E27FC236}">
                <a16:creationId xmlns:a16="http://schemas.microsoft.com/office/drawing/2014/main" id="{D77D9329-7E01-8C37-4B5A-B6EE8122CD74}"/>
              </a:ext>
            </a:extLst>
          </p:cNvPr>
          <p:cNvSpPr txBox="1"/>
          <p:nvPr/>
        </p:nvSpPr>
        <p:spPr>
          <a:xfrm>
            <a:off x="5462506" y="5144223"/>
            <a:ext cx="3160712" cy="554191"/>
          </a:xfrm>
          <a:prstGeom prst="rect">
            <a:avLst/>
          </a:prstGeom>
          <a:noFill/>
        </p:spPr>
        <p:txBody>
          <a:bodyPr wrap="square">
            <a:spAutoFit/>
          </a:bodyPr>
          <a:lstStyle/>
          <a:p>
            <a:pPr>
              <a:spcBef>
                <a:spcPts val="400"/>
              </a:spcBef>
            </a:pPr>
            <a:r>
              <a:rPr lang="en-AU" sz="900" b="1" kern="0" spc="80">
                <a:latin typeface="Arial" pitchFamily="34" charset="0"/>
                <a:cs typeface="Arial" pitchFamily="34" charset="0"/>
              </a:rPr>
              <a:t>OPERATIONAL</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Intent &amp; routing accuracy</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Average handling time</a:t>
            </a:r>
          </a:p>
        </p:txBody>
      </p:sp>
      <p:sp>
        <p:nvSpPr>
          <p:cNvPr id="4" name="TextBox 3">
            <a:extLst>
              <a:ext uri="{FF2B5EF4-FFF2-40B4-BE49-F238E27FC236}">
                <a16:creationId xmlns:a16="http://schemas.microsoft.com/office/drawing/2014/main" id="{FFFABEBB-2012-826B-0494-2E9ADD1894D5}"/>
              </a:ext>
            </a:extLst>
          </p:cNvPr>
          <p:cNvSpPr txBox="1"/>
          <p:nvPr/>
        </p:nvSpPr>
        <p:spPr>
          <a:xfrm>
            <a:off x="3543177" y="5318408"/>
            <a:ext cx="1221859" cy="402867"/>
          </a:xfrm>
          <a:prstGeom prst="rect">
            <a:avLst/>
          </a:prstGeom>
          <a:noFill/>
        </p:spPr>
        <p:txBody>
          <a:bodyPr wrap="square">
            <a:spAutoFit/>
          </a:bodyPr>
          <a:lstStyle/>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Resolution time</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Cost to serve</a:t>
            </a:r>
          </a:p>
        </p:txBody>
      </p:sp>
      <p:sp>
        <p:nvSpPr>
          <p:cNvPr id="9" name="TextBox 8">
            <a:extLst>
              <a:ext uri="{FF2B5EF4-FFF2-40B4-BE49-F238E27FC236}">
                <a16:creationId xmlns:a16="http://schemas.microsoft.com/office/drawing/2014/main" id="{FC803502-5F12-A832-5923-3E1DC523ADF3}"/>
              </a:ext>
            </a:extLst>
          </p:cNvPr>
          <p:cNvSpPr txBox="1"/>
          <p:nvPr/>
        </p:nvSpPr>
        <p:spPr>
          <a:xfrm>
            <a:off x="7249732" y="5318408"/>
            <a:ext cx="3659243" cy="402867"/>
          </a:xfrm>
          <a:prstGeom prst="rect">
            <a:avLst/>
          </a:prstGeom>
          <a:noFill/>
        </p:spPr>
        <p:txBody>
          <a:bodyPr wrap="square">
            <a:spAutoFit/>
          </a:bodyPr>
          <a:lstStyle/>
          <a:p>
            <a:pPr marL="130000" indent="-130000">
              <a:lnSpc>
                <a:spcPct val="112000"/>
              </a:lnSpc>
              <a:spcBef>
                <a:spcPts val="100"/>
              </a:spcBef>
              <a:buClr>
                <a:srgbClr val="7226E0"/>
              </a:buClr>
              <a:buFont typeface="Arial"/>
              <a:buChar char="•"/>
            </a:pPr>
            <a:r>
              <a:rPr lang="en-AU" sz="900">
                <a:solidFill>
                  <a:srgbClr val="46534E"/>
                </a:solidFill>
              </a:rPr>
              <a:t>Repeat / clarification rate</a:t>
            </a:r>
          </a:p>
          <a:p>
            <a:pPr marL="130000" indent="-130000" algn="l">
              <a:lnSpc>
                <a:spcPct val="112000"/>
              </a:lnSpc>
              <a:spcBef>
                <a:spcPts val="100"/>
              </a:spcBef>
              <a:buClr>
                <a:srgbClr val="7226E0"/>
              </a:buClr>
              <a:buFont typeface="Arial"/>
              <a:buChar char="•"/>
            </a:pPr>
            <a:r>
              <a:rPr lang="en-AU" sz="900">
                <a:solidFill>
                  <a:srgbClr val="46534E"/>
                </a:solidFill>
                <a:latin typeface="Arial"/>
                <a:cs typeface="Arial"/>
              </a:rPr>
              <a:t>Clear, understandable and personalised member communication</a:t>
            </a:r>
          </a:p>
        </p:txBody>
      </p:sp>
      <p:sp>
        <p:nvSpPr>
          <p:cNvPr id="11" name="Rail0">
            <a:extLst>
              <a:ext uri="{FF2B5EF4-FFF2-40B4-BE49-F238E27FC236}">
                <a16:creationId xmlns:a16="http://schemas.microsoft.com/office/drawing/2014/main" id="{8D82C4D4-6430-B1FE-C49A-7A0510DA96B6}"/>
              </a:ext>
            </a:extLst>
          </p:cNvPr>
          <p:cNvSpPr>
            <a:spLocks noGrp="1"/>
          </p:cNvSpPr>
          <p:nvPr/>
        </p:nvSpPr>
        <p:spPr>
          <a:xfrm>
            <a:off x="2059781" y="3036938"/>
            <a:ext cx="3619500" cy="176161"/>
          </a:xfrm>
          <a:prstGeom prst="rect">
            <a:avLst/>
          </a:prstGeom>
          <a:solidFill>
            <a:srgbClr val="7030A0"/>
          </a:solidFill>
          <a:ln>
            <a:noFill/>
          </a:ln>
        </p:spPr>
        <p:txBody>
          <a:bodyPr wrap="square" lIns="0" tIns="0" rIns="0" bIns="0" anchor="ctr">
            <a:noAutofit/>
          </a:bodyPr>
          <a:lstStyle/>
          <a:p>
            <a:pPr algn="ctr">
              <a:buNone/>
            </a:pPr>
            <a:r>
              <a:rPr lang="en-AU" sz="900" b="1" spc="40">
                <a:solidFill>
                  <a:schemeClr val="bg1"/>
                </a:solidFill>
                <a:latin typeface="Arial"/>
                <a:cs typeface="Arial"/>
              </a:rPr>
              <a:t>UNDERSTAND</a:t>
            </a:r>
          </a:p>
        </p:txBody>
      </p:sp>
      <p:sp>
        <p:nvSpPr>
          <p:cNvPr id="13" name="Rail1">
            <a:extLst>
              <a:ext uri="{FF2B5EF4-FFF2-40B4-BE49-F238E27FC236}">
                <a16:creationId xmlns:a16="http://schemas.microsoft.com/office/drawing/2014/main" id="{3A0C36DE-BB6B-2DBF-996D-2AD40774FFA8}"/>
              </a:ext>
            </a:extLst>
          </p:cNvPr>
          <p:cNvSpPr>
            <a:spLocks noGrp="1"/>
          </p:cNvSpPr>
          <p:nvPr/>
        </p:nvSpPr>
        <p:spPr>
          <a:xfrm>
            <a:off x="5740401" y="3036937"/>
            <a:ext cx="2686662" cy="176161"/>
          </a:xfrm>
          <a:prstGeom prst="rect">
            <a:avLst/>
          </a:prstGeom>
          <a:solidFill>
            <a:srgbClr val="6FA96B"/>
          </a:solidFill>
          <a:ln>
            <a:noFill/>
          </a:ln>
        </p:spPr>
        <p:txBody>
          <a:bodyPr wrap="square" lIns="0" tIns="0" rIns="0" bIns="0" anchor="ctr">
            <a:noAutofit/>
          </a:bodyPr>
          <a:lstStyle/>
          <a:p>
            <a:pPr algn="ctr">
              <a:buNone/>
            </a:pPr>
            <a:r>
              <a:rPr lang="en-AU" sz="900" b="1" spc="40">
                <a:solidFill>
                  <a:schemeClr val="bg1"/>
                </a:solidFill>
                <a:latin typeface="Arial"/>
                <a:cs typeface="Arial"/>
              </a:rPr>
              <a:t>DECIDE</a:t>
            </a:r>
          </a:p>
        </p:txBody>
      </p:sp>
      <p:sp>
        <p:nvSpPr>
          <p:cNvPr id="15" name="Rail2">
            <a:extLst>
              <a:ext uri="{FF2B5EF4-FFF2-40B4-BE49-F238E27FC236}">
                <a16:creationId xmlns:a16="http://schemas.microsoft.com/office/drawing/2014/main" id="{411AFFEA-287E-FBC5-7434-A4788386E1AD}"/>
              </a:ext>
            </a:extLst>
          </p:cNvPr>
          <p:cNvSpPr>
            <a:spLocks noGrp="1"/>
          </p:cNvSpPr>
          <p:nvPr/>
        </p:nvSpPr>
        <p:spPr>
          <a:xfrm>
            <a:off x="8487085" y="3037758"/>
            <a:ext cx="3180919" cy="173606"/>
          </a:xfrm>
          <a:prstGeom prst="rect">
            <a:avLst/>
          </a:prstGeom>
          <a:solidFill>
            <a:srgbClr val="A81E5C"/>
          </a:solidFill>
          <a:ln>
            <a:noFill/>
          </a:ln>
        </p:spPr>
        <p:txBody>
          <a:bodyPr wrap="square" lIns="0" tIns="0" rIns="0" bIns="0" anchor="ctr">
            <a:noAutofit/>
          </a:bodyPr>
          <a:lstStyle/>
          <a:p>
            <a:pPr algn="ctr">
              <a:buNone/>
            </a:pPr>
            <a:r>
              <a:rPr lang="en-AU" sz="900" b="1" spc="40">
                <a:solidFill>
                  <a:schemeClr val="bg1"/>
                </a:solidFill>
                <a:latin typeface="Arial"/>
                <a:cs typeface="Arial"/>
              </a:rPr>
              <a:t>EXECUTE</a:t>
            </a:r>
          </a:p>
        </p:txBody>
      </p:sp>
      <p:pic>
        <p:nvPicPr>
          <p:cNvPr id="16" name="Picture 15">
            <a:extLst>
              <a:ext uri="{FF2B5EF4-FFF2-40B4-BE49-F238E27FC236}">
                <a16:creationId xmlns:a16="http://schemas.microsoft.com/office/drawing/2014/main" id="{DB0FB6F4-E2BA-0A87-891B-7F2474D45B28}"/>
              </a:ext>
            </a:extLst>
          </p:cNvPr>
          <p:cNvPicPr>
            <a:picLocks noChangeAspect="1"/>
          </p:cNvPicPr>
          <p:nvPr/>
        </p:nvPicPr>
        <p:blipFill>
          <a:blip r:embed="rId5"/>
          <a:stretch>
            <a:fillRect/>
          </a:stretch>
        </p:blipFill>
        <p:spPr>
          <a:xfrm>
            <a:off x="8890000" y="6451600"/>
            <a:ext cx="1139688" cy="203200"/>
          </a:xfrm>
          <a:prstGeom prst="rect">
            <a:avLst/>
          </a:prstGeom>
        </p:spPr>
      </p:pic>
      <p:pic>
        <p:nvPicPr>
          <p:cNvPr id="17" name="Picture 16">
            <a:extLst>
              <a:ext uri="{FF2B5EF4-FFF2-40B4-BE49-F238E27FC236}">
                <a16:creationId xmlns:a16="http://schemas.microsoft.com/office/drawing/2014/main" id="{D78213B1-8224-A426-1B67-52C91F884282}"/>
              </a:ext>
            </a:extLst>
          </p:cNvPr>
          <p:cNvPicPr>
            <a:picLocks noChangeAspect="1"/>
          </p:cNvPicPr>
          <p:nvPr/>
        </p:nvPicPr>
        <p:blipFill>
          <a:blip r:embed="rId6"/>
          <a:stretch>
            <a:fillRect/>
          </a:stretch>
        </p:blipFill>
        <p:spPr>
          <a:xfrm>
            <a:off x="10160000" y="6451600"/>
            <a:ext cx="519953" cy="203200"/>
          </a:xfrm>
          <a:prstGeom prst="rect">
            <a:avLst/>
          </a:prstGeom>
        </p:spPr>
      </p:pic>
      <p:sp>
        <p:nvSpPr>
          <p:cNvPr id="2" name="S104">
            <a:extLst>
              <a:ext uri="{FF2B5EF4-FFF2-40B4-BE49-F238E27FC236}">
                <a16:creationId xmlns:a16="http://schemas.microsoft.com/office/drawing/2014/main" id="{9B058BF7-D1E7-864B-BA10-B1ACAA840454}"/>
              </a:ext>
            </a:extLst>
          </p:cNvPr>
          <p:cNvSpPr/>
          <p:nvPr/>
        </p:nvSpPr>
        <p:spPr>
          <a:xfrm>
            <a:off x="523538" y="4745644"/>
            <a:ext cx="11144923" cy="179754"/>
          </a:xfrm>
          <a:prstGeom prst="rect">
            <a:avLst/>
          </a:prstGeom>
          <a:solidFill>
            <a:srgbClr val="7226E0">
              <a:alpha val="7000"/>
            </a:srgbClr>
          </a:solidFill>
          <a:ln/>
        </p:spPr>
        <p:txBody>
          <a:bodyPr wrap="square" lIns="76200" tIns="38100" rIns="76200" bIns="38100" anchor="t">
            <a:noAutofit/>
          </a:bodyPr>
          <a:lstStyle/>
          <a:p>
            <a:endParaRPr lang="en-AU"/>
          </a:p>
        </p:txBody>
      </p:sp>
      <p:sp>
        <p:nvSpPr>
          <p:cNvPr id="10" name="Rail2">
            <a:extLst>
              <a:ext uri="{FF2B5EF4-FFF2-40B4-BE49-F238E27FC236}">
                <a16:creationId xmlns:a16="http://schemas.microsoft.com/office/drawing/2014/main" id="{D9823D98-B0D9-BC79-2058-4DE90A7C6816}"/>
              </a:ext>
            </a:extLst>
          </p:cNvPr>
          <p:cNvSpPr>
            <a:spLocks noGrp="1"/>
          </p:cNvSpPr>
          <p:nvPr/>
        </p:nvSpPr>
        <p:spPr>
          <a:xfrm>
            <a:off x="9412643" y="4758134"/>
            <a:ext cx="2255361" cy="159653"/>
          </a:xfrm>
          <a:prstGeom prst="rect">
            <a:avLst/>
          </a:prstGeom>
          <a:solidFill>
            <a:srgbClr val="6E7D78"/>
          </a:solidFill>
          <a:ln>
            <a:noFill/>
          </a:ln>
        </p:spPr>
        <p:txBody>
          <a:bodyPr wrap="square" lIns="0" tIns="0" rIns="0" bIns="0" anchor="ctr">
            <a:noAutofit/>
          </a:bodyPr>
          <a:lstStyle/>
          <a:p>
            <a:pPr algn="ctr">
              <a:buNone/>
            </a:pPr>
            <a:r>
              <a:rPr lang="en-AU" sz="900" b="1" spc="40">
                <a:solidFill>
                  <a:schemeClr val="bg1"/>
                </a:solidFill>
                <a:latin typeface="Arial"/>
                <a:cs typeface="Arial"/>
              </a:rPr>
              <a:t>LEARN </a:t>
            </a:r>
          </a:p>
        </p:txBody>
      </p:sp>
    </p:spTree>
    <p:extLst>
      <p:ext uri="{BB962C8B-B14F-4D97-AF65-F5344CB8AC3E}">
        <p14:creationId xmlns:p14="http://schemas.microsoft.com/office/powerpoint/2010/main" val="2007082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923</Words>
  <Application>Microsoft Macintosh PowerPoint</Application>
  <PresentationFormat>Widescreen</PresentationFormat>
  <Paragraphs>156</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Ferreira, Emerson (Cognizant)</dc:creator>
  <cp:lastModifiedBy>Ferreira, Emerson (Cognizant)</cp:lastModifiedBy>
  <cp:revision>1</cp:revision>
  <dcterms:created xsi:type="dcterms:W3CDTF">2026-08-31T11:38:15Z</dcterms:created>
  <dcterms:modified xsi:type="dcterms:W3CDTF">2026-08-31T11:39:07Z</dcterms:modified>
</cp:coreProperties>
</file>